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Montserrat" panose="02000505000000020004" pitchFamily="2" charset="0"/>
      <p:regular r:id="rId21"/>
      <p:bold r:id="rId22"/>
      <p:italic r:id="rId23"/>
      <p:boldItalic r:id="rId24"/>
    </p:embeddedFont>
    <p:embeddedFont>
      <p:font typeface="Montserrat Light" panose="00000400000000000000" pitchFamily="2" charset="0"/>
      <p:regular r:id="rId25"/>
      <p:bold r:id="rId26"/>
      <p:italic r:id="rId27"/>
      <p:boldItalic r:id="rId28"/>
    </p:embeddedFont>
    <p:embeddedFont>
      <p:font typeface="Montserrat SemiBold" panose="00000700000000000000" pitchFamily="2" charset="0"/>
      <p:regular r:id="rId29"/>
      <p:bold r:id="rId30"/>
      <p:italic r:id="rId31"/>
      <p:boldItalic r:id="rId32"/>
    </p:embeddedFont>
    <p:embeddedFont>
      <p:font typeface="Nunito" pitchFamily="2" charset="0"/>
      <p:regular r:id="rId33"/>
      <p:bold r:id="rId34"/>
      <p:italic r:id="rId35"/>
      <p:boldItalic r:id="rId36"/>
    </p:embeddedFont>
    <p:embeddedFont>
      <p:font typeface="Nunito Medium" panose="020B060402020202020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3" roundtripDataSignature="AMtx7miUOBbkuJ/gtmHMgapXHCYFB7R9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9079" autoAdjust="0"/>
  </p:normalViewPr>
  <p:slideViewPr>
    <p:cSldViewPr snapToGrid="0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46" Type="http://schemas.openxmlformats.org/officeDocument/2006/relationships/theme" Target="theme/theme1.xml"/><Relationship Id="rId2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f3fb9b09c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4" name="Google Shape;184;g3ef3fb9b09c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f3fb9b09c_2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08" name="Google Shape;208;g3ef3fb9b09c_2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2c785708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21" name="Google Shape;221;g3f2c785708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31" name="Google Shape;2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2dcdb2a4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g3f2dcdb2a4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61" name="Google Shape;2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1" name="Google Shape;27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2" name="Google Shape;2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5c18da8572d4a20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g5c18da8572d4a20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04" name="Google Shape;30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1.jp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1.jp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3156900" y="1097400"/>
            <a:ext cx="5878200" cy="5110200"/>
          </a:xfrm>
          <a:prstGeom prst="roundRect">
            <a:avLst>
              <a:gd name="adj" fmla="val 7782"/>
            </a:avLst>
          </a:prstGeom>
          <a:solidFill>
            <a:schemeClr val="lt1"/>
          </a:solidFill>
          <a:ln>
            <a:noFill/>
          </a:ln>
          <a:effectLst>
            <a:outerShdw blurRad="857250" dist="38100" dir="5400000" algn="ctr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156900" y="2637400"/>
            <a:ext cx="58782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s-CL" sz="42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Proyecto UrbanLink</a:t>
            </a:r>
            <a:endParaRPr sz="1200" b="0" i="0" u="none" strike="noStrike" cap="non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CL" sz="2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PRESENTACIÓN FINAL CAPSTONE</a:t>
            </a:r>
            <a:endParaRPr sz="22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0" y="0"/>
            <a:ext cx="229725" cy="6858000"/>
          </a:xfrm>
          <a:prstGeom prst="flowChartProcess">
            <a:avLst/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91173" y="3966250"/>
            <a:ext cx="2009654" cy="20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2793150" y="6396300"/>
            <a:ext cx="660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L"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GRUPO 10 | CAPSTONE_001D</a:t>
            </a:r>
            <a:endParaRPr sz="13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4095113" y="4220850"/>
            <a:ext cx="7633500" cy="1735200"/>
          </a:xfrm>
          <a:prstGeom prst="roundRect">
            <a:avLst>
              <a:gd name="adj" fmla="val 10000"/>
            </a:avLst>
          </a:prstGeom>
          <a:solidFill>
            <a:schemeClr val="lt1"/>
          </a:solidFill>
          <a:ln>
            <a:noFill/>
          </a:ln>
          <a:effectLst>
            <a:outerShdw blurRad="271463" dist="38100" dir="5400000" algn="ctr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 txBox="1"/>
          <p:nvPr/>
        </p:nvSpPr>
        <p:spPr>
          <a:xfrm>
            <a:off x="357915" y="2228991"/>
            <a:ext cx="36090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INTEGRANTES DEL PROYECTO</a:t>
            </a:r>
            <a:endParaRPr sz="18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0" y="0"/>
            <a:ext cx="229725" cy="6858000"/>
          </a:xfrm>
          <a:prstGeom prst="flowChartProcess">
            <a:avLst/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2"/>
          <p:cNvGrpSpPr/>
          <p:nvPr/>
        </p:nvGrpSpPr>
        <p:grpSpPr>
          <a:xfrm>
            <a:off x="4085625" y="2229000"/>
            <a:ext cx="7652475" cy="3727056"/>
            <a:chOff x="-18950" y="-243889"/>
            <a:chExt cx="7652475" cy="3104069"/>
          </a:xfrm>
        </p:grpSpPr>
        <p:sp>
          <p:nvSpPr>
            <p:cNvPr id="99" name="Google Shape;99;p2"/>
            <p:cNvSpPr/>
            <p:nvPr/>
          </p:nvSpPr>
          <p:spPr>
            <a:xfrm>
              <a:off x="25" y="-243889"/>
              <a:ext cx="7633500" cy="144510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>
              <a:noFill/>
            </a:ln>
            <a:effectLst>
              <a:outerShdw blurRad="271463" dist="38100" dir="5400000" algn="ctr" rotWithShape="0">
                <a:srgbClr val="000000">
                  <a:alpha val="25098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-18950" y="-243889"/>
              <a:ext cx="7409100" cy="144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500" b="1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Leandro Caceres Mayorinca </a:t>
              </a:r>
              <a:endParaRPr sz="25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228600" marR="0" lvl="1" indent="-22225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Nunito"/>
                <a:buChar char="•"/>
              </a:pPr>
              <a:r>
                <a:rPr lang="es-CL" sz="1900" b="1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Cargo:</a:t>
              </a:r>
              <a:r>
                <a:rPr lang="es-CL" sz="19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 </a:t>
              </a:r>
              <a:r>
                <a:rPr lang="es-CL" sz="19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Desarrollador</a:t>
              </a:r>
              <a:endParaRPr sz="19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228600" marR="0" lvl="1" indent="-22225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Nunito"/>
                <a:buChar char="•"/>
              </a:pPr>
              <a:r>
                <a:rPr lang="es-CL" sz="1900" b="1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Funciones desempeñadas:</a:t>
              </a:r>
              <a:r>
                <a:rPr lang="es-CL" sz="19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 Desarrollo de funcionalidades, pruebas del sistema, corrección de errores y gestión de tareas Kanban.</a:t>
              </a:r>
              <a:endParaRPr sz="19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150" y="1415080"/>
              <a:ext cx="7204200" cy="144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500" b="1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Edinson Delgado Reinoso</a:t>
              </a:r>
              <a:endParaRPr sz="25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228600" marR="0" lvl="1" indent="-22225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Nunito"/>
                <a:buChar char="•"/>
              </a:pPr>
              <a:r>
                <a:rPr lang="es-CL" sz="1900" b="1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Cargo:</a:t>
              </a:r>
              <a:r>
                <a:rPr lang="es-CL" sz="19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 Product Owner</a:t>
              </a:r>
              <a:endParaRPr sz="19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228600" marR="0" lvl="1" indent="-22225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Nunito"/>
                <a:buChar char="•"/>
              </a:pPr>
              <a:r>
                <a:rPr lang="es-CL" sz="1900" b="1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Funciones desempeñadas:</a:t>
              </a:r>
              <a:r>
                <a:rPr lang="es-CL" sz="19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 Gestión de requerimientos, priorización de tareas y definición de funcionalidades. </a:t>
              </a:r>
              <a:endParaRPr sz="19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02" name="Google Shape;102;p2"/>
          <p:cNvSpPr txBox="1"/>
          <p:nvPr/>
        </p:nvSpPr>
        <p:spPr>
          <a:xfrm>
            <a:off x="229715" y="0"/>
            <a:ext cx="2131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5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UrbanLink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229725" y="323102"/>
            <a:ext cx="1717500" cy="630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"/>
            <a:headEnd type="none" w="sm" len="sm"/>
            <a:tailEnd type="none" w="sm" len="sm"/>
          </a:ln>
        </p:spPr>
      </p:cxnSp>
      <p:pic>
        <p:nvPicPr>
          <p:cNvPr id="104" name="Google Shape;104;p2"/>
          <p:cNvPicPr preferRelativeResize="0"/>
          <p:nvPr/>
        </p:nvPicPr>
        <p:blipFill rotWithShape="1">
          <a:blip r:embed="rId4">
            <a:alphaModFix/>
          </a:blip>
          <a:srcRect l="14693" t="20484" r="15038" b="16856"/>
          <a:stretch/>
        </p:blipFill>
        <p:spPr>
          <a:xfrm>
            <a:off x="898862" y="4152300"/>
            <a:ext cx="2409600" cy="1754700"/>
          </a:xfrm>
          <a:prstGeom prst="roundRect">
            <a:avLst>
              <a:gd name="adj" fmla="val 18135"/>
            </a:avLst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6912025" y="2169775"/>
            <a:ext cx="4348800" cy="4119900"/>
          </a:xfrm>
          <a:prstGeom prst="roundRect">
            <a:avLst>
              <a:gd name="adj" fmla="val 6649"/>
            </a:avLst>
          </a:prstGeom>
          <a:solidFill>
            <a:schemeClr val="lt1"/>
          </a:solidFill>
          <a:ln>
            <a:noFill/>
          </a:ln>
          <a:effectLst>
            <a:outerShdw blurRad="857250" dist="38100" dir="5400000" algn="ctr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Desarrollar una plataforma web que centralice la gestión de la junta de vecinos, optimizando la administración, la comunicación y los principales trámites comunitarios. 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714900" y="2150000"/>
            <a:ext cx="4348800" cy="4119900"/>
          </a:xfrm>
          <a:prstGeom prst="roundRect">
            <a:avLst>
              <a:gd name="adj" fmla="val 7782"/>
            </a:avLst>
          </a:prstGeom>
          <a:solidFill>
            <a:schemeClr val="lt1"/>
          </a:solidFill>
          <a:ln>
            <a:noFill/>
          </a:ln>
          <a:effectLst>
            <a:outerShdw blurRad="857250" dist="38100" dir="5400000" algn="ctr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endParaRPr sz="19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juntas de vecinos gestionan gran parte de su información de forma manual, lo que provoca desorganización, retrasos en los trámites y una comunicación poco eficiente con la comunidad. 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0" y="113084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DESCRIPCIÓN DEL PROYECTO</a:t>
            </a:r>
            <a:endParaRPr sz="18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path path="circle">
              <a:fillToRect l="50000" t="50000" r="50000" b="50000"/>
            </a:path>
            <a:tileRect/>
          </a:gradFill>
          <a:ln w="38100" cap="flat" cmpd="sng">
            <a:solidFill>
              <a:srgbClr val="F5F7FC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0" y="0"/>
            <a:ext cx="229725" cy="6858000"/>
          </a:xfrm>
          <a:prstGeom prst="flowChartProcess">
            <a:avLst/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1218150" y="2312775"/>
            <a:ext cx="3342300" cy="646200"/>
          </a:xfrm>
          <a:prstGeom prst="roundRect">
            <a:avLst>
              <a:gd name="adj" fmla="val 16667"/>
            </a:avLst>
          </a:prstGeom>
          <a:solidFill>
            <a:srgbClr val="EA9999"/>
          </a:solidFill>
          <a:ln>
            <a:noFill/>
          </a:ln>
          <a:effectLst>
            <a:outerShdw dist="38100" dir="5400000" algn="ctr" rotWithShape="0">
              <a:srgbClr val="000000">
                <a:alpha val="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CL" sz="19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PROBLEMA O DOLOR</a:t>
            </a:r>
            <a:endParaRPr sz="1900" b="1" i="0" u="none" strike="noStrike" cap="none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7415275" y="2312775"/>
            <a:ext cx="3342300" cy="646200"/>
          </a:xfrm>
          <a:prstGeom prst="roundRect">
            <a:avLst>
              <a:gd name="adj" fmla="val 16667"/>
            </a:avLst>
          </a:prstGeom>
          <a:solidFill>
            <a:srgbClr val="EA9999"/>
          </a:solidFill>
          <a:ln>
            <a:noFill/>
          </a:ln>
          <a:effectLst>
            <a:outerShdw dist="38100" dir="5400000" algn="ctr" rotWithShape="0">
              <a:srgbClr val="000000">
                <a:alpha val="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CL" sz="19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PROPUESTA DE SOLUCIÓN</a:t>
            </a:r>
            <a:endParaRPr sz="1900" b="1" i="0" u="none" strike="noStrike" cap="none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229715" y="0"/>
            <a:ext cx="2131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5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UrbanLink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3"/>
          <p:cNvCxnSpPr/>
          <p:nvPr/>
        </p:nvCxnSpPr>
        <p:spPr>
          <a:xfrm>
            <a:off x="229725" y="323102"/>
            <a:ext cx="1717500" cy="630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"/>
            <a:headEnd type="none" w="sm" len="sm"/>
            <a:tailEnd type="none" w="sm" len="sm"/>
          </a:ln>
        </p:spPr>
      </p:cxn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/>
          <p:nvPr/>
        </p:nvSpPr>
        <p:spPr>
          <a:xfrm>
            <a:off x="455650" y="4323825"/>
            <a:ext cx="11556000" cy="2077500"/>
          </a:xfrm>
          <a:prstGeom prst="roundRect">
            <a:avLst>
              <a:gd name="adj" fmla="val 7782"/>
            </a:avLst>
          </a:prstGeom>
          <a:solidFill>
            <a:schemeClr val="lt1"/>
          </a:solidFill>
          <a:ln>
            <a:noFill/>
          </a:ln>
          <a:effectLst>
            <a:outerShdw blurRad="857250" dist="38100" dir="5400000" algn="ctr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Medium"/>
              <a:buChar char="●"/>
            </a:pPr>
            <a:r>
              <a:rPr lang="es-CL" sz="1600" b="0" i="0" u="none" strike="noStrike" cap="none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Reducir en al menos un 50% el tiempo de gestión de solicitudes (certificados, reservas y postulaciones) en un plazo de 3 meses desde la implementación del sistema.</a:t>
            </a:r>
            <a:endParaRPr sz="1600" b="0" i="0" u="none" strike="noStrike" cap="none">
              <a:solidFill>
                <a:schemeClr val="dk1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Medium"/>
              <a:buChar char="●"/>
            </a:pPr>
            <a:r>
              <a:rPr lang="es-CL" sz="1600" b="0" i="0" u="none" strike="noStrike" cap="none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Alcanzar un 70% de uso activo del sistema por parte de los usuarios registrados durante el periodo de prueba, en un plazo de 4 meses desde la puesta en marcha de la plataforma.</a:t>
            </a:r>
            <a:endParaRPr sz="1600" b="0" i="0" u="none" strike="noStrike" cap="none">
              <a:solidFill>
                <a:schemeClr val="dk1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Nunito Medium"/>
              <a:buChar char="●"/>
            </a:pPr>
            <a:r>
              <a:rPr lang="es-CL" sz="1600" b="0" i="0" u="none" strike="noStrike" cap="none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Disminuir en un 60% el uso de registros y procesos manuales dentro de la junta de vecinos mediante la centralización de la información en la plataforma, en un plazo de 3 meses desde la implementación del sistema. </a:t>
            </a:r>
            <a:endParaRPr sz="1700" b="0" i="0" u="sng" strike="noStrike" cap="none">
              <a:solidFill>
                <a:schemeClr val="dk1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55637" y="1857150"/>
            <a:ext cx="11556000" cy="1575300"/>
          </a:xfrm>
          <a:prstGeom prst="roundRect">
            <a:avLst>
              <a:gd name="adj" fmla="val 7782"/>
            </a:avLst>
          </a:prstGeom>
          <a:solidFill>
            <a:schemeClr val="lt1"/>
          </a:solidFill>
          <a:ln>
            <a:noFill/>
          </a:ln>
          <a:effectLst>
            <a:outerShdw blurRad="857250" dist="38100" dir="5400000" algn="ctr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CL" sz="1900" b="0" i="0" u="none" strike="noStrike" cap="none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Desarrollar un sistema web responsivo que permita la gestión, análisis y comunicación de la información de una junta de vecinos.</a:t>
            </a:r>
            <a:endParaRPr sz="1900" b="0" i="0" u="sng" strike="noStrike" cap="none">
              <a:solidFill>
                <a:schemeClr val="dk1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1450" y="121065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Objetivo General</a:t>
            </a:r>
            <a:endParaRPr sz="18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-1449" y="3677321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Objetivos Específicos</a:t>
            </a:r>
            <a:endParaRPr sz="18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0" y="0"/>
            <a:ext cx="229725" cy="6858000"/>
          </a:xfrm>
          <a:prstGeom prst="flowChartProcess">
            <a:avLst/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229715" y="0"/>
            <a:ext cx="2131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5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UrbanLink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4"/>
          <p:cNvCxnSpPr/>
          <p:nvPr/>
        </p:nvCxnSpPr>
        <p:spPr>
          <a:xfrm>
            <a:off x="229725" y="323102"/>
            <a:ext cx="1717500" cy="630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"/>
            <a:headEnd type="none" w="sm" len="sm"/>
            <a:tailEnd type="none" w="sm" len="sm"/>
          </a:ln>
        </p:spPr>
      </p:cxn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5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 b="29908"/>
          <a:stretch/>
        </p:blipFill>
        <p:spPr>
          <a:xfrm>
            <a:off x="8772150" y="207550"/>
            <a:ext cx="3141400" cy="55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/>
          <p:nvPr/>
        </p:nvSpPr>
        <p:spPr>
          <a:xfrm>
            <a:off x="0" y="0"/>
            <a:ext cx="229725" cy="6858000"/>
          </a:xfrm>
          <a:prstGeom prst="flowChartProcess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229715" y="0"/>
            <a:ext cx="2131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5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UrbanLink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138;p5"/>
          <p:cNvCxnSpPr/>
          <p:nvPr/>
        </p:nvCxnSpPr>
        <p:spPr>
          <a:xfrm>
            <a:off x="229725" y="323102"/>
            <a:ext cx="1717500" cy="630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139" name="Google Shape;139;p5"/>
          <p:cNvSpPr/>
          <p:nvPr/>
        </p:nvSpPr>
        <p:spPr>
          <a:xfrm>
            <a:off x="6912025" y="2169775"/>
            <a:ext cx="4348800" cy="4119900"/>
          </a:xfrm>
          <a:prstGeom prst="roundRect">
            <a:avLst>
              <a:gd name="adj" fmla="val 6649"/>
            </a:avLst>
          </a:prstGeom>
          <a:solidFill>
            <a:schemeClr val="lt1"/>
          </a:solidFill>
          <a:ln>
            <a:noFill/>
          </a:ln>
          <a:effectLst>
            <a:outerShdw blurRad="857250" dist="38100" dir="5400000" algn="ctr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</a:t>
            </a:r>
            <a:endParaRPr sz="2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714900" y="2150000"/>
            <a:ext cx="4348800" cy="4119900"/>
          </a:xfrm>
          <a:prstGeom prst="roundRect">
            <a:avLst>
              <a:gd name="adj" fmla="val 7782"/>
            </a:avLst>
          </a:prstGeom>
          <a:solidFill>
            <a:schemeClr val="lt1"/>
          </a:solidFill>
          <a:ln>
            <a:noFill/>
          </a:ln>
          <a:effectLst>
            <a:outerShdw blurRad="857250" dist="38100" dir="5400000" algn="ctr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endParaRPr sz="19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0" y="113084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ALCANCES Y LIMITACIONES DEL PROYECTO</a:t>
            </a:r>
            <a:endParaRPr sz="18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1218150" y="2312775"/>
            <a:ext cx="3342300" cy="646200"/>
          </a:xfrm>
          <a:prstGeom prst="roundRect">
            <a:avLst>
              <a:gd name="adj" fmla="val 16667"/>
            </a:avLst>
          </a:prstGeom>
          <a:solidFill>
            <a:srgbClr val="EA9999"/>
          </a:solidFill>
          <a:ln>
            <a:noFill/>
          </a:ln>
          <a:effectLst>
            <a:outerShdw dist="38100" dir="5400000" algn="ctr" rotWithShape="0">
              <a:srgbClr val="000000">
                <a:alpha val="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CL" sz="19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ALCANCES</a:t>
            </a:r>
            <a:endParaRPr sz="1900" b="1" i="0" u="none" strike="noStrike" cap="none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7415275" y="2312775"/>
            <a:ext cx="3342300" cy="646200"/>
          </a:xfrm>
          <a:prstGeom prst="roundRect">
            <a:avLst>
              <a:gd name="adj" fmla="val 16667"/>
            </a:avLst>
          </a:prstGeom>
          <a:solidFill>
            <a:srgbClr val="EA9999"/>
          </a:solidFill>
          <a:ln>
            <a:noFill/>
          </a:ln>
          <a:effectLst>
            <a:outerShdw dist="38100" dir="5400000" algn="ctr" rotWithShape="0">
              <a:srgbClr val="000000">
                <a:alpha val="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CL" sz="19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LIMITACIONES</a:t>
            </a:r>
            <a:endParaRPr sz="1900" b="1" i="0" u="none" strike="noStrike" cap="none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6912025" y="2958975"/>
            <a:ext cx="4348800" cy="3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s-CL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Notificaciones limitadas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lang="es-CL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Certificados sin validez legal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lang="es-CL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Sistema para una comunidad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lang="es-CL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 debe ser mayor de 16 años para poder crear usuario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lang="es-CL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Exclusivamente en español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s-CL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Registro de junta necesita documentacion valida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689075" y="2958975"/>
            <a:ext cx="4348800" cy="3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lang="es-CL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Gestión de usuarios y roles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lang="es-CL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Gestión de juntas de vecinos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lang="es-CL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Solicitudes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lang="es-CL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Noticias y eventos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lang="es-CL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Certificados de residencia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unito"/>
              <a:buChar char="●"/>
            </a:pPr>
            <a:r>
              <a:rPr lang="es-CL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Seguridad y autenticació</a:t>
            </a:r>
            <a:r>
              <a:rPr lang="es-CL" sz="21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</a:t>
            </a:r>
            <a:endParaRPr sz="21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s-CL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Sistema web responsivo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6"/>
          <p:cNvPicPr preferRelativeResize="0"/>
          <p:nvPr/>
        </p:nvPicPr>
        <p:blipFill rotWithShape="1">
          <a:blip r:embed="rId3">
            <a:alphaModFix/>
          </a:blip>
          <a:srcRect l="603" t="675" r="3713"/>
          <a:stretch/>
        </p:blipFill>
        <p:spPr>
          <a:xfrm>
            <a:off x="5161575" y="3847700"/>
            <a:ext cx="6325348" cy="291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6" descr="EscuelaIT Duoc UC - Escuela de Informática y Telecomunicaciones Duoc UC - Duoc  UC | LinkedI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"/>
          <p:cNvSpPr/>
          <p:nvPr/>
        </p:nvSpPr>
        <p:spPr>
          <a:xfrm>
            <a:off x="591900" y="2182500"/>
            <a:ext cx="11280600" cy="1537800"/>
          </a:xfrm>
          <a:prstGeom prst="roundRect">
            <a:avLst>
              <a:gd name="adj" fmla="val 7782"/>
            </a:avLst>
          </a:prstGeom>
          <a:solidFill>
            <a:schemeClr val="lt1"/>
          </a:solidFill>
          <a:ln>
            <a:noFill/>
          </a:ln>
          <a:effectLst>
            <a:outerShdw blurRad="857250" dist="38100" dir="5400000" algn="ctr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s-CL" sz="23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Para el desarrollo del proyecto se utilizó la metodología Kanban, ya que permitió organizar el trabajo de forma visual y realizar un seguimiento continuo del avance de las tareas.</a:t>
            </a:r>
            <a:endParaRPr sz="18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0" y="885405"/>
            <a:ext cx="12192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-CL" sz="35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Metodología de trabajo para el desarrollo del proyecto</a:t>
            </a:r>
            <a:endParaRPr sz="17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723625" y="3991150"/>
            <a:ext cx="5458514" cy="1968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25" tIns="88125" rIns="88125" bIns="88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799" b="1" i="0" u="none" strike="noStrike" cap="none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Leandro		</a:t>
            </a:r>
            <a:r>
              <a:rPr lang="es-CL" sz="2799" b="1" i="0" u="none" strike="noStrike" cap="none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Edinson</a:t>
            </a:r>
            <a:endParaRPr sz="2799" b="1" i="0" u="none" strike="noStrike" cap="none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35" b="0" i="0" u="none" strike="noStrike" cap="none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• Desarrollo 		• Documentación</a:t>
            </a:r>
            <a:endParaRPr sz="1835" b="0" i="0" u="none" strike="noStrike" cap="none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35" b="0" i="0" u="none" strike="noStrike" cap="none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• </a:t>
            </a:r>
            <a:r>
              <a:rPr lang="es-CL" sz="1835" b="0" i="0" u="none" strike="noStrike" cap="none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Backend</a:t>
            </a:r>
            <a:r>
              <a:rPr lang="es-CL" sz="1835" b="0" i="0" u="none" strike="noStrike" cap="none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		• Entregables</a:t>
            </a:r>
            <a:endParaRPr sz="1835" b="0" i="0" u="none" strike="noStrike" cap="none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35"/>
              <a:buFont typeface="Arial"/>
              <a:buNone/>
            </a:pPr>
            <a:r>
              <a:rPr lang="es-CL" sz="1835" b="0" i="0" u="none" strike="noStrike" cap="none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• </a:t>
            </a:r>
            <a:r>
              <a:rPr lang="es-CL" sz="1835" b="0" i="0" u="none" strike="noStrike" cap="none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Fronten</a:t>
            </a:r>
            <a:r>
              <a:rPr lang="es-CL" sz="1835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</a:t>
            </a:r>
            <a:endParaRPr sz="1835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0" y="0"/>
            <a:ext cx="229725" cy="6858000"/>
          </a:xfrm>
          <a:prstGeom prst="flowChartProcess">
            <a:avLst/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229715" y="0"/>
            <a:ext cx="2131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5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UrbanLink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6"/>
          <p:cNvCxnSpPr/>
          <p:nvPr/>
        </p:nvCxnSpPr>
        <p:spPr>
          <a:xfrm>
            <a:off x="229725" y="323102"/>
            <a:ext cx="1717500" cy="630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"/>
            <a:headEnd type="none" w="sm" len="sm"/>
            <a:tailEnd type="none" w="sm" len="sm"/>
          </a:ln>
        </p:spPr>
      </p:cxn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7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61203" y="207550"/>
            <a:ext cx="1830800" cy="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 txBox="1"/>
          <p:nvPr/>
        </p:nvSpPr>
        <p:spPr>
          <a:xfrm>
            <a:off x="229715" y="0"/>
            <a:ext cx="2131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5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UrbanLink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681750" y="207550"/>
            <a:ext cx="10081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CL"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Tareas principales</a:t>
            </a:r>
            <a:endParaRPr sz="1000" b="0" i="0" u="none" strike="noStrike" cap="non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0" y="0"/>
            <a:ext cx="229725" cy="6858000"/>
          </a:xfrm>
          <a:prstGeom prst="flowChartProcess">
            <a:avLst/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7"/>
          <p:cNvCxnSpPr/>
          <p:nvPr/>
        </p:nvCxnSpPr>
        <p:spPr>
          <a:xfrm>
            <a:off x="229725" y="323102"/>
            <a:ext cx="1717500" cy="630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"/>
            <a:headEnd type="none" w="sm" len="sm"/>
            <a:tailEnd type="none" w="sm" len="sm"/>
          </a:ln>
        </p:spPr>
      </p:cxnSp>
      <p:pic>
        <p:nvPicPr>
          <p:cNvPr id="167" name="Google Shape;167;p7"/>
          <p:cNvPicPr preferRelativeResize="0"/>
          <p:nvPr/>
        </p:nvPicPr>
        <p:blipFill rotWithShape="1">
          <a:blip r:embed="rId4">
            <a:alphaModFix amt="30000"/>
          </a:blip>
          <a:srcRect t="675" r="3717"/>
          <a:stretch/>
        </p:blipFill>
        <p:spPr>
          <a:xfrm>
            <a:off x="229725" y="1072875"/>
            <a:ext cx="11962274" cy="5479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7"/>
          <p:cNvPicPr preferRelativeResize="0"/>
          <p:nvPr/>
        </p:nvPicPr>
        <p:blipFill rotWithShape="1">
          <a:blip r:embed="rId5">
            <a:alphaModFix/>
          </a:blip>
          <a:srcRect l="2036" t="10241" r="1018" b="6902"/>
          <a:stretch/>
        </p:blipFill>
        <p:spPr>
          <a:xfrm>
            <a:off x="2566400" y="1072880"/>
            <a:ext cx="3630900" cy="831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69" name="Google Shape;169;p7"/>
          <p:cNvPicPr preferRelativeResize="0"/>
          <p:nvPr/>
        </p:nvPicPr>
        <p:blipFill rotWithShape="1">
          <a:blip r:embed="rId6">
            <a:alphaModFix/>
          </a:blip>
          <a:srcRect l="1267" t="6749" r="1238" b="5370"/>
          <a:stretch/>
        </p:blipFill>
        <p:spPr>
          <a:xfrm>
            <a:off x="2572575" y="1991375"/>
            <a:ext cx="3630900" cy="828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70" name="Google Shape;170;p7"/>
          <p:cNvPicPr preferRelativeResize="0"/>
          <p:nvPr/>
        </p:nvPicPr>
        <p:blipFill rotWithShape="1">
          <a:blip r:embed="rId7">
            <a:alphaModFix/>
          </a:blip>
          <a:srcRect l="1221" t="7850" r="1065" b="8899"/>
          <a:stretch/>
        </p:blipFill>
        <p:spPr>
          <a:xfrm>
            <a:off x="2578750" y="2907275"/>
            <a:ext cx="3630900" cy="797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71" name="Google Shape;171;p7"/>
          <p:cNvPicPr preferRelativeResize="0"/>
          <p:nvPr/>
        </p:nvPicPr>
        <p:blipFill rotWithShape="1">
          <a:blip r:embed="rId8">
            <a:alphaModFix/>
          </a:blip>
          <a:srcRect l="2062" t="8370" r="1133" b="4982"/>
          <a:stretch/>
        </p:blipFill>
        <p:spPr>
          <a:xfrm>
            <a:off x="2565975" y="3797725"/>
            <a:ext cx="3644100" cy="834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9">
            <a:alphaModFix/>
          </a:blip>
          <a:srcRect l="2405" t="10684" r="1014" b="6562"/>
          <a:stretch/>
        </p:blipFill>
        <p:spPr>
          <a:xfrm>
            <a:off x="2578750" y="4722177"/>
            <a:ext cx="3630900" cy="834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73" name="Google Shape;173;p7"/>
          <p:cNvPicPr preferRelativeResize="0"/>
          <p:nvPr/>
        </p:nvPicPr>
        <p:blipFill rotWithShape="1">
          <a:blip r:embed="rId10">
            <a:alphaModFix/>
          </a:blip>
          <a:srcRect l="1877" t="2277" r="895"/>
          <a:stretch/>
        </p:blipFill>
        <p:spPr>
          <a:xfrm>
            <a:off x="4419375" y="5665800"/>
            <a:ext cx="3630900" cy="866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74" name="Google Shape;174;p7"/>
          <p:cNvPicPr preferRelativeResize="0"/>
          <p:nvPr/>
        </p:nvPicPr>
        <p:blipFill rotWithShape="1">
          <a:blip r:embed="rId11">
            <a:alphaModFix/>
          </a:blip>
          <a:srcRect l="1270" t="1807" r="1007" b="1584"/>
          <a:stretch/>
        </p:blipFill>
        <p:spPr>
          <a:xfrm>
            <a:off x="6393150" y="1058775"/>
            <a:ext cx="3596700" cy="828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75" name="Google Shape;175;p7"/>
          <p:cNvPicPr preferRelativeResize="0"/>
          <p:nvPr/>
        </p:nvPicPr>
        <p:blipFill rotWithShape="1">
          <a:blip r:embed="rId12">
            <a:alphaModFix/>
          </a:blip>
          <a:srcRect l="1627" t="6924" r="926" b="5877"/>
          <a:stretch/>
        </p:blipFill>
        <p:spPr>
          <a:xfrm>
            <a:off x="6402025" y="1971350"/>
            <a:ext cx="3596700" cy="828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76" name="Google Shape;176;p7"/>
          <p:cNvPicPr preferRelativeResize="0"/>
          <p:nvPr/>
        </p:nvPicPr>
        <p:blipFill rotWithShape="1">
          <a:blip r:embed="rId13">
            <a:alphaModFix/>
          </a:blip>
          <a:srcRect l="1770" t="7736" r="953" b="5533"/>
          <a:stretch/>
        </p:blipFill>
        <p:spPr>
          <a:xfrm>
            <a:off x="6390750" y="2884538"/>
            <a:ext cx="3601500" cy="828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77" name="Google Shape;177;p7"/>
          <p:cNvPicPr preferRelativeResize="0"/>
          <p:nvPr/>
        </p:nvPicPr>
        <p:blipFill rotWithShape="1">
          <a:blip r:embed="rId14">
            <a:alphaModFix/>
          </a:blip>
          <a:srcRect l="1627" t="9471" r="926" b="7154"/>
          <a:stretch/>
        </p:blipFill>
        <p:spPr>
          <a:xfrm>
            <a:off x="6402325" y="3779000"/>
            <a:ext cx="3601500" cy="828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78" name="Google Shape;178;p7"/>
          <p:cNvPicPr preferRelativeResize="0"/>
          <p:nvPr/>
        </p:nvPicPr>
        <p:blipFill rotWithShape="1">
          <a:blip r:embed="rId15">
            <a:alphaModFix/>
          </a:blip>
          <a:srcRect l="2205" t="8970" r="1093" b="3945"/>
          <a:stretch/>
        </p:blipFill>
        <p:spPr>
          <a:xfrm>
            <a:off x="6422575" y="4703350"/>
            <a:ext cx="3577500" cy="834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179" name="Google Shape;179;p7"/>
          <p:cNvSpPr/>
          <p:nvPr/>
        </p:nvSpPr>
        <p:spPr>
          <a:xfrm>
            <a:off x="6596800" y="1518825"/>
            <a:ext cx="120300" cy="130500"/>
          </a:xfrm>
          <a:prstGeom prst="diamond">
            <a:avLst/>
          </a:prstGeom>
          <a:solidFill>
            <a:srgbClr val="38761D"/>
          </a:solidFill>
          <a:ln w="9525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2778775" y="1518825"/>
            <a:ext cx="120300" cy="130500"/>
          </a:xfrm>
          <a:prstGeom prst="diamond">
            <a:avLst/>
          </a:prstGeom>
          <a:solidFill>
            <a:srgbClr val="38761D"/>
          </a:solidFill>
          <a:ln w="9525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596800" y="5282700"/>
            <a:ext cx="120300" cy="130500"/>
          </a:xfrm>
          <a:prstGeom prst="diamond">
            <a:avLst/>
          </a:prstGeom>
          <a:solidFill>
            <a:srgbClr val="38761D"/>
          </a:solidFill>
          <a:ln w="9525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f3fb9b09c_2_20"/>
          <p:cNvSpPr/>
          <p:nvPr/>
        </p:nvSpPr>
        <p:spPr>
          <a:xfrm>
            <a:off x="1710441" y="105275"/>
            <a:ext cx="8771099" cy="6647459"/>
          </a:xfrm>
          <a:prstGeom prst="roundRect">
            <a:avLst>
              <a:gd name="adj" fmla="val 7782"/>
            </a:avLst>
          </a:prstGeom>
          <a:solidFill>
            <a:schemeClr val="lt1"/>
          </a:solidFill>
          <a:ln>
            <a:noFill/>
          </a:ln>
          <a:effectLst>
            <a:outerShdw blurRad="830937" dist="36931" dir="5400000" algn="ctr" rotWithShape="0">
              <a:srgbClr val="000000">
                <a:alpha val="14117"/>
              </a:srgbClr>
            </a:outerShdw>
          </a:effectLst>
        </p:spPr>
        <p:txBody>
          <a:bodyPr spcFirstLastPara="1" wrap="square" lIns="88625" tIns="88625" rIns="88625" bIns="88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2"/>
              <a:buFont typeface="Arial"/>
              <a:buNone/>
            </a:pPr>
            <a:endParaRPr sz="1842" b="0" i="0" u="none" strike="noStrike" cap="none">
              <a:solidFill>
                <a:schemeClr val="dk1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87" name="Google Shape;187;g3ef3fb9b09c_2_20"/>
          <p:cNvSpPr/>
          <p:nvPr/>
        </p:nvSpPr>
        <p:spPr>
          <a:xfrm>
            <a:off x="0" y="0"/>
            <a:ext cx="229725" cy="6858000"/>
          </a:xfrm>
          <a:prstGeom prst="flowChartProcess">
            <a:avLst/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ef3fb9b09c_2_20"/>
          <p:cNvSpPr txBox="1"/>
          <p:nvPr/>
        </p:nvSpPr>
        <p:spPr>
          <a:xfrm>
            <a:off x="229715" y="0"/>
            <a:ext cx="2131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5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UrbanLink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g3ef3fb9b09c_2_20"/>
          <p:cNvCxnSpPr/>
          <p:nvPr/>
        </p:nvCxnSpPr>
        <p:spPr>
          <a:xfrm>
            <a:off x="229725" y="323102"/>
            <a:ext cx="1717500" cy="630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190" name="Google Shape;190;g3ef3fb9b09c_2_20"/>
          <p:cNvSpPr txBox="1"/>
          <p:nvPr/>
        </p:nvSpPr>
        <p:spPr>
          <a:xfrm>
            <a:off x="100" y="8922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Arquitectura del software</a:t>
            </a:r>
            <a:endParaRPr sz="1400" b="0" i="0" u="none" strike="noStrike" cap="non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g3ef3fb9b09c_2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0338" y="602550"/>
            <a:ext cx="7411534" cy="615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/>
          <p:nvPr/>
        </p:nvSpPr>
        <p:spPr>
          <a:xfrm>
            <a:off x="599203" y="105300"/>
            <a:ext cx="11448600" cy="6647400"/>
          </a:xfrm>
          <a:prstGeom prst="roundRect">
            <a:avLst>
              <a:gd name="adj" fmla="val 7782"/>
            </a:avLst>
          </a:prstGeom>
          <a:solidFill>
            <a:schemeClr val="lt1"/>
          </a:solidFill>
          <a:ln>
            <a:noFill/>
          </a:ln>
          <a:effectLst>
            <a:outerShdw blurRad="830937" dist="36931" dir="5400000" algn="ctr" rotWithShape="0">
              <a:srgbClr val="000000">
                <a:alpha val="14117"/>
              </a:srgbClr>
            </a:outerShdw>
          </a:effectLst>
        </p:spPr>
        <p:txBody>
          <a:bodyPr spcFirstLastPara="1" wrap="square" lIns="88625" tIns="88625" rIns="88625" bIns="88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2"/>
              <a:buFont typeface="Arial"/>
              <a:buNone/>
            </a:pPr>
            <a:endParaRPr sz="1842" b="0" i="0" u="none" strike="noStrike" cap="none">
              <a:solidFill>
                <a:schemeClr val="dk1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0" y="0"/>
            <a:ext cx="229725" cy="6858000"/>
          </a:xfrm>
          <a:prstGeom prst="flowChartProcess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-75" y="8922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Arquitectura del software</a:t>
            </a:r>
            <a:endParaRPr sz="1400" b="0" i="0" u="none" strike="noStrike" cap="non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8"/>
          <p:cNvCxnSpPr/>
          <p:nvPr/>
        </p:nvCxnSpPr>
        <p:spPr>
          <a:xfrm>
            <a:off x="229725" y="323102"/>
            <a:ext cx="1717500" cy="630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200" name="Google Shape;200;p8"/>
          <p:cNvSpPr txBox="1"/>
          <p:nvPr/>
        </p:nvSpPr>
        <p:spPr>
          <a:xfrm>
            <a:off x="229715" y="0"/>
            <a:ext cx="2131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5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UrbanLink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8"/>
          <p:cNvPicPr preferRelativeResize="0"/>
          <p:nvPr/>
        </p:nvPicPr>
        <p:blipFill rotWithShape="1">
          <a:blip r:embed="rId3">
            <a:alphaModFix/>
          </a:blip>
          <a:srcRect t="11614"/>
          <a:stretch/>
        </p:blipFill>
        <p:spPr>
          <a:xfrm>
            <a:off x="835975" y="1308325"/>
            <a:ext cx="8287200" cy="5300100"/>
          </a:xfrm>
          <a:prstGeom prst="roundRect">
            <a:avLst>
              <a:gd name="adj" fmla="val 8211"/>
            </a:avLst>
          </a:prstGeom>
          <a:noFill/>
          <a:ln>
            <a:noFill/>
          </a:ln>
        </p:spPr>
      </p:pic>
      <p:pic>
        <p:nvPicPr>
          <p:cNvPr id="202" name="Google Shape;202;p8"/>
          <p:cNvPicPr preferRelativeResize="0"/>
          <p:nvPr/>
        </p:nvPicPr>
        <p:blipFill rotWithShape="1">
          <a:blip r:embed="rId4">
            <a:alphaModFix/>
          </a:blip>
          <a:srcRect l="1923" t="2095" r="2894"/>
          <a:stretch/>
        </p:blipFill>
        <p:spPr>
          <a:xfrm>
            <a:off x="9494550" y="398975"/>
            <a:ext cx="2300700" cy="4329900"/>
          </a:xfrm>
          <a:prstGeom prst="roundRect">
            <a:avLst>
              <a:gd name="adj" fmla="val 3426"/>
            </a:avLst>
          </a:prstGeom>
          <a:noFill/>
          <a:ln w="174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3" name="Google Shape;203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64150" y="691375"/>
            <a:ext cx="3431149" cy="56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6">
            <a:alphaModFix/>
          </a:blip>
          <a:srcRect l="1264" r="725"/>
          <a:stretch/>
        </p:blipFill>
        <p:spPr>
          <a:xfrm>
            <a:off x="9494550" y="4838539"/>
            <a:ext cx="2300700" cy="1688100"/>
          </a:xfrm>
          <a:prstGeom prst="roundRect">
            <a:avLst>
              <a:gd name="adj" fmla="val 5232"/>
            </a:avLst>
          </a:prstGeom>
          <a:noFill/>
          <a:ln w="174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5" name="Google Shape;205;p8"/>
          <p:cNvSpPr/>
          <p:nvPr/>
        </p:nvSpPr>
        <p:spPr>
          <a:xfrm>
            <a:off x="2045575" y="6132025"/>
            <a:ext cx="7077600" cy="43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aplicación web recibe las peticiones del navegador, accede a la base de datos PostgreSQL y utiliza un servicio SMTP para enviar correos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0" name="Google Shape;210;g3ef3fb9b09c_2_26"/>
          <p:cNvCxnSpPr/>
          <p:nvPr/>
        </p:nvCxnSpPr>
        <p:spPr>
          <a:xfrm>
            <a:off x="0" y="323102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211" name="Google Shape;211;g3ef3fb9b09c_2_26"/>
          <p:cNvSpPr/>
          <p:nvPr/>
        </p:nvSpPr>
        <p:spPr>
          <a:xfrm>
            <a:off x="341450" y="105275"/>
            <a:ext cx="11742900" cy="6647400"/>
          </a:xfrm>
          <a:prstGeom prst="roundRect">
            <a:avLst>
              <a:gd name="adj" fmla="val 7782"/>
            </a:avLst>
          </a:prstGeom>
          <a:solidFill>
            <a:schemeClr val="lt1"/>
          </a:solidFill>
          <a:ln>
            <a:noFill/>
          </a:ln>
          <a:effectLst>
            <a:outerShdw blurRad="830937" dist="36931" dir="5400000" algn="ctr" rotWithShape="0">
              <a:srgbClr val="000000">
                <a:alpha val="14117"/>
              </a:srgbClr>
            </a:outerShdw>
          </a:effectLst>
        </p:spPr>
        <p:txBody>
          <a:bodyPr spcFirstLastPara="1" wrap="square" lIns="88625" tIns="88625" rIns="88625" bIns="88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2"/>
              <a:buFont typeface="Arial"/>
              <a:buNone/>
            </a:pPr>
            <a:endParaRPr sz="1842" b="0" i="0" u="none" strike="noStrike" cap="none">
              <a:solidFill>
                <a:schemeClr val="dk1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12" name="Google Shape;212;g3ef3fb9b09c_2_26"/>
          <p:cNvSpPr/>
          <p:nvPr/>
        </p:nvSpPr>
        <p:spPr>
          <a:xfrm>
            <a:off x="0" y="0"/>
            <a:ext cx="229725" cy="6858000"/>
          </a:xfrm>
          <a:prstGeom prst="flowChartProcess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ef3fb9b09c_2_26"/>
          <p:cNvSpPr txBox="1"/>
          <p:nvPr/>
        </p:nvSpPr>
        <p:spPr>
          <a:xfrm>
            <a:off x="25" y="8922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Arquitectura del software</a:t>
            </a:r>
            <a:endParaRPr sz="1400" b="0" i="0" u="none" strike="noStrike" cap="non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ef3fb9b09c_2_26"/>
          <p:cNvSpPr txBox="1"/>
          <p:nvPr/>
        </p:nvSpPr>
        <p:spPr>
          <a:xfrm>
            <a:off x="229715" y="0"/>
            <a:ext cx="2131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5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UrbanLink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g3ef3fb9b09c_2_26"/>
          <p:cNvCxnSpPr/>
          <p:nvPr/>
        </p:nvCxnSpPr>
        <p:spPr>
          <a:xfrm>
            <a:off x="229725" y="323102"/>
            <a:ext cx="1717500" cy="630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"/>
            <a:headEnd type="none" w="sm" len="sm"/>
            <a:tailEnd type="none" w="sm" len="sm"/>
          </a:ln>
        </p:spPr>
      </p:cxnSp>
      <p:pic>
        <p:nvPicPr>
          <p:cNvPr id="216" name="Google Shape;216;g3ef3fb9b09c_2_26"/>
          <p:cNvPicPr preferRelativeResize="0"/>
          <p:nvPr/>
        </p:nvPicPr>
        <p:blipFill rotWithShape="1">
          <a:blip r:embed="rId3">
            <a:alphaModFix/>
          </a:blip>
          <a:srcRect t="11363"/>
          <a:stretch/>
        </p:blipFill>
        <p:spPr>
          <a:xfrm>
            <a:off x="421675" y="1500975"/>
            <a:ext cx="11582476" cy="498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ef3fb9b09c_2_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2400" y="646850"/>
            <a:ext cx="5694650" cy="74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ef3fb9b09c_2_26"/>
          <p:cNvSpPr txBox="1"/>
          <p:nvPr/>
        </p:nvSpPr>
        <p:spPr>
          <a:xfrm>
            <a:off x="10872900" y="3770175"/>
            <a:ext cx="843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highlight>
                  <a:srgbClr val="EAF5EE"/>
                </a:highlight>
                <a:latin typeface="Calibri"/>
                <a:ea typeface="Calibri"/>
                <a:cs typeface="Calibri"/>
                <a:sym typeface="Calibri"/>
              </a:rPr>
              <a:t>(PostgreSQL)</a:t>
            </a:r>
            <a:endParaRPr sz="1100">
              <a:solidFill>
                <a:schemeClr val="dk1"/>
              </a:solidFill>
              <a:highlight>
                <a:srgbClr val="EAF5EE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" name="Google Shape;223;g3f2c785708e_0_9"/>
          <p:cNvCxnSpPr/>
          <p:nvPr/>
        </p:nvCxnSpPr>
        <p:spPr>
          <a:xfrm>
            <a:off x="0" y="323102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224" name="Google Shape;224;g3f2c785708e_0_9"/>
          <p:cNvSpPr/>
          <p:nvPr/>
        </p:nvSpPr>
        <p:spPr>
          <a:xfrm>
            <a:off x="1206450" y="105275"/>
            <a:ext cx="9846000" cy="6647400"/>
          </a:xfrm>
          <a:prstGeom prst="roundRect">
            <a:avLst>
              <a:gd name="adj" fmla="val 7782"/>
            </a:avLst>
          </a:prstGeom>
          <a:solidFill>
            <a:schemeClr val="lt1"/>
          </a:solidFill>
          <a:ln>
            <a:noFill/>
          </a:ln>
          <a:effectLst>
            <a:outerShdw blurRad="830937" dist="36931" dir="5400000" algn="ctr" rotWithShape="0">
              <a:srgbClr val="000000">
                <a:alpha val="14117"/>
              </a:srgbClr>
            </a:outerShdw>
          </a:effectLst>
        </p:spPr>
        <p:txBody>
          <a:bodyPr spcFirstLastPara="1" wrap="square" lIns="88625" tIns="88625" rIns="88625" bIns="88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2"/>
              <a:buFont typeface="Arial"/>
              <a:buNone/>
            </a:pPr>
            <a:endParaRPr sz="1842" b="0" i="0" u="none" strike="noStrike" cap="none">
              <a:solidFill>
                <a:schemeClr val="dk1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pic>
        <p:nvPicPr>
          <p:cNvPr id="225" name="Google Shape;225;g3f2c785708e_0_9" title="ChatGPT Image 6 jul 2026, 03_14_46.png"/>
          <p:cNvPicPr preferRelativeResize="0"/>
          <p:nvPr/>
        </p:nvPicPr>
        <p:blipFill rotWithShape="1">
          <a:blip r:embed="rId3">
            <a:alphaModFix/>
          </a:blip>
          <a:srcRect l="7298" t="8600" r="3600" b="878"/>
          <a:stretch/>
        </p:blipFill>
        <p:spPr>
          <a:xfrm>
            <a:off x="1272838" y="740600"/>
            <a:ext cx="9713225" cy="572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f2c785708e_0_9"/>
          <p:cNvSpPr/>
          <p:nvPr/>
        </p:nvSpPr>
        <p:spPr>
          <a:xfrm>
            <a:off x="0" y="0"/>
            <a:ext cx="229725" cy="6858000"/>
          </a:xfrm>
          <a:prstGeom prst="flowChartProcess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f2c785708e_0_9"/>
          <p:cNvSpPr txBox="1"/>
          <p:nvPr/>
        </p:nvSpPr>
        <p:spPr>
          <a:xfrm>
            <a:off x="0" y="8922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Arquitectura del software</a:t>
            </a:r>
            <a:endParaRPr sz="1400" b="0" i="0" u="none" strike="noStrike" cap="non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f2c785708e_0_9"/>
          <p:cNvSpPr txBox="1"/>
          <p:nvPr/>
        </p:nvSpPr>
        <p:spPr>
          <a:xfrm>
            <a:off x="229715" y="0"/>
            <a:ext cx="2131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5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UrbanLink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9"/>
          <p:cNvPicPr preferRelativeResize="0"/>
          <p:nvPr/>
        </p:nvPicPr>
        <p:blipFill rotWithShape="1">
          <a:blip r:embed="rId3">
            <a:alphaModFix/>
          </a:blip>
          <a:srcRect l="258" t="170" r="387"/>
          <a:stretch/>
        </p:blipFill>
        <p:spPr>
          <a:xfrm>
            <a:off x="229725" y="987300"/>
            <a:ext cx="11962276" cy="57972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p9"/>
          <p:cNvCxnSpPr/>
          <p:nvPr/>
        </p:nvCxnSpPr>
        <p:spPr>
          <a:xfrm>
            <a:off x="0" y="323102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"/>
            <a:headEnd type="none" w="sm" len="sm"/>
            <a:tailEnd type="none" w="sm" len="sm"/>
          </a:ln>
        </p:spPr>
      </p:cxnSp>
      <p:pic>
        <p:nvPicPr>
          <p:cNvPr id="235" name="Google Shape;235;p9" descr="EscuelaIT Duoc UC - Escuela de Informática y Telecomunicaciones Duoc UC - Duoc  UC | LinkedI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58927" y="160913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9"/>
          <p:cNvSpPr/>
          <p:nvPr/>
        </p:nvSpPr>
        <p:spPr>
          <a:xfrm>
            <a:off x="0" y="0"/>
            <a:ext cx="229725" cy="6858000"/>
          </a:xfrm>
          <a:prstGeom prst="flowChartProcess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 txBox="1"/>
          <p:nvPr/>
        </p:nvSpPr>
        <p:spPr>
          <a:xfrm>
            <a:off x="229715" y="0"/>
            <a:ext cx="2131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5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UrbanLink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9"/>
          <p:cNvSpPr txBox="1"/>
          <p:nvPr/>
        </p:nvSpPr>
        <p:spPr>
          <a:xfrm>
            <a:off x="0" y="299775"/>
            <a:ext cx="1224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Modelo de datos</a:t>
            </a:r>
            <a:endParaRPr sz="1400" b="0" i="0" u="none" strike="noStrike" cap="non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g3f2dcdb2a44_0_11"/>
          <p:cNvPicPr preferRelativeResize="0"/>
          <p:nvPr/>
        </p:nvPicPr>
        <p:blipFill rotWithShape="1">
          <a:blip r:embed="rId3">
            <a:alphaModFix amt="15000"/>
          </a:blip>
          <a:srcRect l="258" t="170" r="387"/>
          <a:stretch/>
        </p:blipFill>
        <p:spPr>
          <a:xfrm>
            <a:off x="229725" y="987300"/>
            <a:ext cx="11962276" cy="57972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4" name="Google Shape;244;g3f2dcdb2a44_0_11"/>
          <p:cNvCxnSpPr/>
          <p:nvPr/>
        </p:nvCxnSpPr>
        <p:spPr>
          <a:xfrm>
            <a:off x="0" y="323102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245" name="Google Shape;245;g3f2dcdb2a44_0_11"/>
          <p:cNvSpPr/>
          <p:nvPr/>
        </p:nvSpPr>
        <p:spPr>
          <a:xfrm>
            <a:off x="0" y="0"/>
            <a:ext cx="229725" cy="6858000"/>
          </a:xfrm>
          <a:prstGeom prst="flowChartProcess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f2dcdb2a44_0_11"/>
          <p:cNvSpPr txBox="1"/>
          <p:nvPr/>
        </p:nvSpPr>
        <p:spPr>
          <a:xfrm>
            <a:off x="0" y="299775"/>
            <a:ext cx="1224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Modelo de datos</a:t>
            </a:r>
            <a:endParaRPr sz="1400" b="0" i="0" u="none" strike="noStrike" cap="non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7" name="Google Shape;247;g3f2dcdb2a44_0_11"/>
          <p:cNvSpPr txBox="1"/>
          <p:nvPr/>
        </p:nvSpPr>
        <p:spPr>
          <a:xfrm>
            <a:off x="229715" y="0"/>
            <a:ext cx="2131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5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UrbanLink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g3f2dcdb2a44_0_11" title="Modelo relacional.png"/>
          <p:cNvPicPr preferRelativeResize="0"/>
          <p:nvPr/>
        </p:nvPicPr>
        <p:blipFill rotWithShape="1">
          <a:blip r:embed="rId4">
            <a:alphaModFix/>
          </a:blip>
          <a:srcRect l="30814" t="25899" r="52415" b="47881"/>
          <a:stretch/>
        </p:blipFill>
        <p:spPr>
          <a:xfrm>
            <a:off x="761901" y="1119563"/>
            <a:ext cx="3265175" cy="2446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g3f2dcdb2a44_0_11"/>
          <p:cNvPicPr preferRelativeResize="0"/>
          <p:nvPr/>
        </p:nvPicPr>
        <p:blipFill rotWithShape="1">
          <a:blip r:embed="rId5">
            <a:alphaModFix/>
          </a:blip>
          <a:srcRect l="1031" r="737"/>
          <a:stretch/>
        </p:blipFill>
        <p:spPr>
          <a:xfrm>
            <a:off x="8316201" y="1109550"/>
            <a:ext cx="3420725" cy="1653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g3f2dcdb2a44_0_11"/>
          <p:cNvPicPr preferRelativeResize="0"/>
          <p:nvPr/>
        </p:nvPicPr>
        <p:blipFill rotWithShape="1">
          <a:blip r:embed="rId6">
            <a:alphaModFix/>
          </a:blip>
          <a:srcRect l="926" r="513"/>
          <a:stretch/>
        </p:blipFill>
        <p:spPr>
          <a:xfrm>
            <a:off x="4147425" y="1109550"/>
            <a:ext cx="4048425" cy="2078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3f2dcdb2a44_0_11"/>
          <p:cNvPicPr preferRelativeResize="0"/>
          <p:nvPr/>
        </p:nvPicPr>
        <p:blipFill rotWithShape="1">
          <a:blip r:embed="rId7">
            <a:alphaModFix/>
          </a:blip>
          <a:srcRect l="731" t="1863" r="425" b="2103"/>
          <a:stretch/>
        </p:blipFill>
        <p:spPr>
          <a:xfrm>
            <a:off x="4147426" y="3333300"/>
            <a:ext cx="4048425" cy="228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f2dcdb2a44_0_11"/>
          <p:cNvPicPr preferRelativeResize="0"/>
          <p:nvPr/>
        </p:nvPicPr>
        <p:blipFill rotWithShape="1">
          <a:blip r:embed="rId8">
            <a:alphaModFix/>
          </a:blip>
          <a:srcRect l="504" t="1546" r="593"/>
          <a:stretch/>
        </p:blipFill>
        <p:spPr>
          <a:xfrm>
            <a:off x="788925" y="3721425"/>
            <a:ext cx="3211125" cy="184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g3f2dcdb2a44_0_11"/>
          <p:cNvPicPr preferRelativeResize="0"/>
          <p:nvPr/>
        </p:nvPicPr>
        <p:blipFill rotWithShape="1">
          <a:blip r:embed="rId9">
            <a:alphaModFix/>
          </a:blip>
          <a:srcRect l="965" t="775" r="591" b="1128"/>
          <a:stretch/>
        </p:blipFill>
        <p:spPr>
          <a:xfrm>
            <a:off x="8329727" y="2908400"/>
            <a:ext cx="3393687" cy="2014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3f2dcdb2a44_0_11"/>
          <p:cNvPicPr preferRelativeResize="0"/>
          <p:nvPr/>
        </p:nvPicPr>
        <p:blipFill rotWithShape="1">
          <a:blip r:embed="rId10">
            <a:alphaModFix/>
          </a:blip>
          <a:srcRect l="1531" t="1822" r="353" b="2264"/>
          <a:stretch/>
        </p:blipFill>
        <p:spPr>
          <a:xfrm>
            <a:off x="8329713" y="5038574"/>
            <a:ext cx="3382458" cy="1452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g3f2dcdb2a44_0_11" descr="EscuelaIT Duoc UC - Escuela de Informática y Telecomunicaciones Duoc UC - Duoc  UC | LinkedIn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758927" y="160913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3f2dcdb2a44_0_11"/>
          <p:cNvSpPr/>
          <p:nvPr/>
        </p:nvSpPr>
        <p:spPr>
          <a:xfrm>
            <a:off x="884400" y="3817475"/>
            <a:ext cx="61200" cy="54600"/>
          </a:xfrm>
          <a:prstGeom prst="diamond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f2dcdb2a44_0_11"/>
          <p:cNvSpPr/>
          <p:nvPr/>
        </p:nvSpPr>
        <p:spPr>
          <a:xfrm>
            <a:off x="884400" y="1188000"/>
            <a:ext cx="61200" cy="54600"/>
          </a:xfrm>
          <a:prstGeom prst="diamond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f2dcdb2a44_0_11"/>
          <p:cNvSpPr/>
          <p:nvPr/>
        </p:nvSpPr>
        <p:spPr>
          <a:xfrm>
            <a:off x="8423725" y="1188000"/>
            <a:ext cx="61200" cy="54600"/>
          </a:xfrm>
          <a:prstGeom prst="diamond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"/>
          <p:cNvSpPr/>
          <p:nvPr/>
        </p:nvSpPr>
        <p:spPr>
          <a:xfrm>
            <a:off x="508725" y="2252000"/>
            <a:ext cx="11333400" cy="3573300"/>
          </a:xfrm>
          <a:prstGeom prst="roundRect">
            <a:avLst>
              <a:gd name="adj" fmla="val 7782"/>
            </a:avLst>
          </a:prstGeom>
          <a:solidFill>
            <a:schemeClr val="lt1"/>
          </a:solidFill>
          <a:ln>
            <a:noFill/>
          </a:ln>
          <a:effectLst>
            <a:outerShdw blurRad="857250" dist="38100" dir="5400000" algn="ctr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Desarrollo de los módulos principales del sistema.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Gestión de usuarios, viviendas y vecinos.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Gestión de solicitudes y certificados.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Noticias y eventos comunitarios.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Reportes y dashboards.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Plataforma web funcional.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1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1"/>
          <p:cNvSpPr txBox="1"/>
          <p:nvPr/>
        </p:nvSpPr>
        <p:spPr>
          <a:xfrm>
            <a:off x="1" y="1459095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Resultados obtenidos</a:t>
            </a:r>
            <a:endParaRPr sz="1400" b="0" i="0" u="none" strike="noStrike" cap="non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0" y="0"/>
            <a:ext cx="229725" cy="6858000"/>
          </a:xfrm>
          <a:prstGeom prst="flowChartProcess">
            <a:avLst/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 txBox="1"/>
          <p:nvPr/>
        </p:nvSpPr>
        <p:spPr>
          <a:xfrm>
            <a:off x="229715" y="0"/>
            <a:ext cx="2131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5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UrbanLink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11"/>
          <p:cNvCxnSpPr/>
          <p:nvPr/>
        </p:nvCxnSpPr>
        <p:spPr>
          <a:xfrm>
            <a:off x="229725" y="323102"/>
            <a:ext cx="1717500" cy="630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"/>
            <a:headEnd type="none" w="sm" len="sm"/>
            <a:tailEnd type="none" w="sm" len="sm"/>
          </a:ln>
        </p:spPr>
      </p:cxn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"/>
          <p:cNvSpPr/>
          <p:nvPr/>
        </p:nvSpPr>
        <p:spPr>
          <a:xfrm>
            <a:off x="508725" y="2252000"/>
            <a:ext cx="11333400" cy="3573300"/>
          </a:xfrm>
          <a:prstGeom prst="roundRect">
            <a:avLst>
              <a:gd name="adj" fmla="val 7782"/>
            </a:avLst>
          </a:prstGeom>
          <a:solidFill>
            <a:schemeClr val="lt1"/>
          </a:solidFill>
          <a:ln>
            <a:noFill/>
          </a:ln>
          <a:effectLst>
            <a:outerShdw blurRad="857250" dist="38100" dir="5400000" algn="ctr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s-C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de Django con Supabase,</a:t>
            </a:r>
            <a:r>
              <a:rPr lang="es-CL" sz="1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principalmente en la configuración de la base de datos, autenticación y almacenamiento de información.</a:t>
            </a:r>
            <a:r>
              <a:rPr lang="es-C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s-C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realizaron ajustes durante la implementación de funcionalidades</a:t>
            </a:r>
            <a:r>
              <a:rPr lang="es-CL" sz="1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, corrección de errores y generación de documentos PDF. </a:t>
            </a:r>
            <a:endParaRPr sz="19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s-C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Mantener una correcta organización del trabajo, </a:t>
            </a:r>
            <a:r>
              <a:rPr lang="es-CL" sz="1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Hubieron dificultades para mantener el tablero Kanban al dia para gestionar los avances y tareas del equipo.</a:t>
            </a:r>
            <a:endParaRPr sz="19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Ajustes al Modelado de la base de datos. </a:t>
            </a:r>
            <a:endParaRPr sz="19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1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2"/>
          <p:cNvSpPr txBox="1"/>
          <p:nvPr/>
        </p:nvSpPr>
        <p:spPr>
          <a:xfrm>
            <a:off x="691200" y="992900"/>
            <a:ext cx="111456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s-CL" sz="37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Obstáculos presentados durante el desarrollo</a:t>
            </a:r>
            <a:endParaRPr sz="700" b="0" i="0" u="none" strike="noStrike" cap="non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0" y="3303900"/>
            <a:ext cx="229725" cy="3554100"/>
          </a:xfrm>
          <a:prstGeom prst="flowChartProcess">
            <a:avLst/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0" y="0"/>
            <a:ext cx="229725" cy="3303900"/>
          </a:xfrm>
          <a:prstGeom prst="flowChartProcess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 txBox="1"/>
          <p:nvPr/>
        </p:nvSpPr>
        <p:spPr>
          <a:xfrm>
            <a:off x="229715" y="0"/>
            <a:ext cx="2131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5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UrbanLink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12"/>
          <p:cNvCxnSpPr/>
          <p:nvPr/>
        </p:nvCxnSpPr>
        <p:spPr>
          <a:xfrm>
            <a:off x="229725" y="323102"/>
            <a:ext cx="1717500" cy="630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"/>
            <a:headEnd type="none" w="sm" len="sm"/>
            <a:tailEnd type="none" w="sm" len="sm"/>
          </a:ln>
        </p:spPr>
      </p:cxnSp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"/>
          <p:cNvSpPr/>
          <p:nvPr/>
        </p:nvSpPr>
        <p:spPr>
          <a:xfrm>
            <a:off x="3156900" y="1097400"/>
            <a:ext cx="5878200" cy="5110200"/>
          </a:xfrm>
          <a:prstGeom prst="roundRect">
            <a:avLst>
              <a:gd name="adj" fmla="val 7782"/>
            </a:avLst>
          </a:prstGeom>
          <a:solidFill>
            <a:schemeClr val="lt1"/>
          </a:solidFill>
          <a:ln>
            <a:noFill/>
          </a:ln>
          <a:effectLst>
            <a:outerShdw blurRad="857250" dist="38100" dir="5400000" algn="ctr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1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3"/>
          <p:cNvSpPr txBox="1"/>
          <p:nvPr/>
        </p:nvSpPr>
        <p:spPr>
          <a:xfrm>
            <a:off x="3156900" y="1612225"/>
            <a:ext cx="58782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s-CL" sz="4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DEMOSTRACIÓN DE PROYECTO</a:t>
            </a:r>
            <a:endParaRPr sz="2200" b="0" i="0" u="none" strike="noStrike" cap="non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0" y="0"/>
            <a:ext cx="229725" cy="6858000"/>
          </a:xfrm>
          <a:prstGeom prst="flowChartProcess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 txBox="1"/>
          <p:nvPr/>
        </p:nvSpPr>
        <p:spPr>
          <a:xfrm>
            <a:off x="229715" y="0"/>
            <a:ext cx="2131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5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UrbanLink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p13"/>
          <p:cNvCxnSpPr/>
          <p:nvPr/>
        </p:nvCxnSpPr>
        <p:spPr>
          <a:xfrm>
            <a:off x="229725" y="323102"/>
            <a:ext cx="1717500" cy="630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"/>
            <a:headEnd type="none" w="sm" len="sm"/>
            <a:tailEnd type="none" w="sm" len="sm"/>
          </a:ln>
        </p:spPr>
      </p:cxnSp>
      <p:pic>
        <p:nvPicPr>
          <p:cNvPr id="290" name="Google Shape;290;p13"/>
          <p:cNvPicPr preferRelativeResize="0"/>
          <p:nvPr/>
        </p:nvPicPr>
        <p:blipFill rotWithShape="1">
          <a:blip r:embed="rId4">
            <a:alphaModFix/>
          </a:blip>
          <a:srcRect l="209" t="249" r="189" b="179"/>
          <a:stretch/>
        </p:blipFill>
        <p:spPr>
          <a:xfrm>
            <a:off x="3383250" y="3320200"/>
            <a:ext cx="5425500" cy="2650500"/>
          </a:xfrm>
          <a:prstGeom prst="roundRect">
            <a:avLst>
              <a:gd name="adj" fmla="val 6035"/>
            </a:avLst>
          </a:prstGeom>
          <a:noFill/>
          <a:ln>
            <a:noFill/>
          </a:ln>
          <a:effectLst>
            <a:outerShdw blurRad="200025" dist="19050" dir="5400000" algn="bl" rotWithShape="0">
              <a:srgbClr val="000000">
                <a:alpha val="30196"/>
              </a:srgbClr>
            </a:outerShdw>
          </a:effectLst>
        </p:spPr>
      </p:pic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5c18da8572d4a207_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s-CL" b="1">
                <a:latin typeface="Montserrat"/>
                <a:ea typeface="Montserrat"/>
                <a:cs typeface="Montserrat"/>
                <a:sym typeface="Montserrat"/>
              </a:rPr>
              <a:t>Muchas Gracias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g5c18da8572d4a207_0"/>
          <p:cNvSpPr txBox="1">
            <a:spLocks noGrp="1"/>
          </p:cNvSpPr>
          <p:nvPr>
            <p:ph type="body" idx="1"/>
          </p:nvPr>
        </p:nvSpPr>
        <p:spPr>
          <a:xfrm>
            <a:off x="831850" y="4458088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s-CL" sz="2600">
                <a:latin typeface="Nunito Medium"/>
                <a:ea typeface="Nunito Medium"/>
                <a:cs typeface="Nunito Medium"/>
                <a:sym typeface="Nunito Medium"/>
              </a:rPr>
              <a:t>Por su atencion</a:t>
            </a:r>
            <a:endParaRPr sz="2600"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97" name="Google Shape;297;g5c18da8572d4a207_0"/>
          <p:cNvSpPr/>
          <p:nvPr/>
        </p:nvSpPr>
        <p:spPr>
          <a:xfrm>
            <a:off x="0" y="3303900"/>
            <a:ext cx="229725" cy="3554100"/>
          </a:xfrm>
          <a:prstGeom prst="flowChartProcess">
            <a:avLst/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5c18da8572d4a207_0"/>
          <p:cNvSpPr/>
          <p:nvPr/>
        </p:nvSpPr>
        <p:spPr>
          <a:xfrm>
            <a:off x="0" y="0"/>
            <a:ext cx="229725" cy="3303900"/>
          </a:xfrm>
          <a:prstGeom prst="flowChartProcess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5c18da8572d4a207_0"/>
          <p:cNvSpPr txBox="1"/>
          <p:nvPr/>
        </p:nvSpPr>
        <p:spPr>
          <a:xfrm>
            <a:off x="229715" y="0"/>
            <a:ext cx="2131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5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UrbanLink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" name="Google Shape;300;g5c18da8572d4a207_0"/>
          <p:cNvCxnSpPr/>
          <p:nvPr/>
        </p:nvCxnSpPr>
        <p:spPr>
          <a:xfrm>
            <a:off x="229725" y="323102"/>
            <a:ext cx="1717500" cy="630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"/>
            <a:headEnd type="none" w="sm" len="sm"/>
            <a:tailEnd type="none" w="sm" len="sm"/>
          </a:ln>
        </p:spPr>
      </p:cxnSp>
      <p:pic>
        <p:nvPicPr>
          <p:cNvPr id="301" name="Google Shape;301;g5c18da8572d4a207_0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1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4"/>
          <p:cNvSpPr/>
          <p:nvPr/>
        </p:nvSpPr>
        <p:spPr>
          <a:xfrm>
            <a:off x="0" y="3303900"/>
            <a:ext cx="229725" cy="3554100"/>
          </a:xfrm>
          <a:prstGeom prst="flowChartProcess">
            <a:avLst/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0" y="0"/>
            <a:ext cx="229725" cy="3303900"/>
          </a:xfrm>
          <a:prstGeom prst="flowChartProcess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 txBox="1">
            <a:spLocks noGrp="1"/>
          </p:cNvSpPr>
          <p:nvPr>
            <p:ph type="title" idx="4294967295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s-CL" sz="6000" b="1">
                <a:latin typeface="Montserrat"/>
                <a:ea typeface="Montserrat"/>
                <a:cs typeface="Montserrat"/>
                <a:sym typeface="Montserrat"/>
              </a:rPr>
              <a:t>Preguntas</a:t>
            </a:r>
            <a:endParaRPr sz="6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14"/>
          <p:cNvSpPr txBox="1">
            <a:spLocks noGrp="1"/>
          </p:cNvSpPr>
          <p:nvPr>
            <p:ph type="body" idx="4294967295"/>
          </p:nvPr>
        </p:nvSpPr>
        <p:spPr>
          <a:xfrm>
            <a:off x="831850" y="4458088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s-CL" sz="2600">
                <a:solidFill>
                  <a:srgbClr val="888888"/>
                </a:solidFill>
                <a:latin typeface="Nunito Medium"/>
                <a:ea typeface="Nunito Medium"/>
                <a:cs typeface="Nunito Medium"/>
                <a:sym typeface="Nunito Medium"/>
              </a:rPr>
              <a:t>de la comisión</a:t>
            </a:r>
            <a:endParaRPr sz="2600">
              <a:solidFill>
                <a:srgbClr val="888888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311" name="Google Shape;311;p14"/>
          <p:cNvSpPr txBox="1"/>
          <p:nvPr/>
        </p:nvSpPr>
        <p:spPr>
          <a:xfrm>
            <a:off x="229715" y="0"/>
            <a:ext cx="2131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5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UrbanLink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2" name="Google Shape;312;p14"/>
          <p:cNvCxnSpPr/>
          <p:nvPr/>
        </p:nvCxnSpPr>
        <p:spPr>
          <a:xfrm>
            <a:off x="229725" y="323102"/>
            <a:ext cx="1717500" cy="630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313" name="Google Shape;313;p14"/>
          <p:cNvSpPr txBox="1">
            <a:spLocks noGrp="1"/>
          </p:cNvSpPr>
          <p:nvPr>
            <p:ph type="body" idx="4294967295"/>
          </p:nvPr>
        </p:nvSpPr>
        <p:spPr>
          <a:xfrm>
            <a:off x="831850" y="3303888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s-CL" sz="2600">
                <a:solidFill>
                  <a:srgbClr val="888888"/>
                </a:solidFill>
                <a:latin typeface="Nunito Medium"/>
                <a:ea typeface="Nunito Medium"/>
                <a:cs typeface="Nunito Medium"/>
                <a:sym typeface="Nunito Medium"/>
              </a:rPr>
              <a:t>Momento de</a:t>
            </a:r>
            <a:endParaRPr sz="2600">
              <a:solidFill>
                <a:srgbClr val="888888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609</Words>
  <Application>Microsoft Office PowerPoint</Application>
  <PresentationFormat>Panorámica</PresentationFormat>
  <Paragraphs>95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6" baseType="lpstr">
      <vt:lpstr>Arial</vt:lpstr>
      <vt:lpstr>Nunito</vt:lpstr>
      <vt:lpstr>Montserrat SemiBold</vt:lpstr>
      <vt:lpstr>Calibri</vt:lpstr>
      <vt:lpstr>Nunito Medium</vt:lpstr>
      <vt:lpstr>Montserrat</vt:lpstr>
      <vt:lpstr>Montserrat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Muchas Gracias</vt:lpstr>
      <vt:lpstr>Preguntas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Gerardo Galan Cruz</dc:creator>
  <cp:lastModifiedBy>LEANDRO . CACERES MAYORINCA</cp:lastModifiedBy>
  <cp:revision>2</cp:revision>
  <dcterms:created xsi:type="dcterms:W3CDTF">2023-10-28T21:12:11Z</dcterms:created>
  <dcterms:modified xsi:type="dcterms:W3CDTF">2026-07-07T02:49:15Z</dcterms:modified>
</cp:coreProperties>
</file>