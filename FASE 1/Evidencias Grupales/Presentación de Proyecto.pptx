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6858000" cx="12192000"/>
  <p:notesSz cx="6858000" cy="9144000"/>
  <p:embeddedFontLst>
    <p:embeddedFont>
      <p:font typeface="Playfair Display"/>
      <p:regular r:id="rId22"/>
      <p:bold r:id="rId23"/>
      <p:italic r:id="rId24"/>
      <p:boldItalic r:id="rId25"/>
    </p:embeddedFont>
    <p:embeddedFont>
      <p:font typeface="Nunito"/>
      <p:regular r:id="rId26"/>
      <p:bold r:id="rId27"/>
      <p:italic r:id="rId28"/>
      <p:boldItalic r:id="rId29"/>
    </p:embeddedFont>
    <p:embeddedFont>
      <p:font typeface="Lato"/>
      <p:regular r:id="rId30"/>
      <p:bold r:id="rId31"/>
      <p:italic r:id="rId32"/>
      <p:boldItalic r:id="rId33"/>
    </p:embeddedFont>
    <p:embeddedFont>
      <p:font typeface="Montserrat Medium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8" roundtripDataSignature="AMtx7mhHV4Rz7a6odjxE1ycJrskFTSrNa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PlayfairDisplay-regular.fntdata"/><Relationship Id="rId21" Type="http://schemas.openxmlformats.org/officeDocument/2006/relationships/slide" Target="slides/slide17.xml"/><Relationship Id="rId24" Type="http://schemas.openxmlformats.org/officeDocument/2006/relationships/font" Target="fonts/PlayfairDisplay-italic.fntdata"/><Relationship Id="rId23" Type="http://schemas.openxmlformats.org/officeDocument/2006/relationships/font" Target="fonts/PlayfairDisplay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Nunito-regular.fntdata"/><Relationship Id="rId25" Type="http://schemas.openxmlformats.org/officeDocument/2006/relationships/font" Target="fonts/PlayfairDisplay-boldItalic.fntdata"/><Relationship Id="rId28" Type="http://schemas.openxmlformats.org/officeDocument/2006/relationships/font" Target="fonts/Nunito-italic.fntdata"/><Relationship Id="rId27" Type="http://schemas.openxmlformats.org/officeDocument/2006/relationships/font" Target="fonts/Nunito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Nunito-bold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Lato-bold.fntdata"/><Relationship Id="rId30" Type="http://schemas.openxmlformats.org/officeDocument/2006/relationships/font" Target="fonts/Lato-regular.fntdata"/><Relationship Id="rId11" Type="http://schemas.openxmlformats.org/officeDocument/2006/relationships/slide" Target="slides/slide7.xml"/><Relationship Id="rId33" Type="http://schemas.openxmlformats.org/officeDocument/2006/relationships/font" Target="fonts/Lato-boldItalic.fntdata"/><Relationship Id="rId10" Type="http://schemas.openxmlformats.org/officeDocument/2006/relationships/slide" Target="slides/slide6.xml"/><Relationship Id="rId32" Type="http://schemas.openxmlformats.org/officeDocument/2006/relationships/font" Target="fonts/Lato-italic.fntdata"/><Relationship Id="rId13" Type="http://schemas.openxmlformats.org/officeDocument/2006/relationships/slide" Target="slides/slide9.xml"/><Relationship Id="rId35" Type="http://schemas.openxmlformats.org/officeDocument/2006/relationships/font" Target="fonts/MontserratMedium-bold.fntdata"/><Relationship Id="rId12" Type="http://schemas.openxmlformats.org/officeDocument/2006/relationships/slide" Target="slides/slide8.xml"/><Relationship Id="rId34" Type="http://schemas.openxmlformats.org/officeDocument/2006/relationships/font" Target="fonts/MontserratMedium-regular.fntdata"/><Relationship Id="rId15" Type="http://schemas.openxmlformats.org/officeDocument/2006/relationships/slide" Target="slides/slide11.xml"/><Relationship Id="rId37" Type="http://schemas.openxmlformats.org/officeDocument/2006/relationships/font" Target="fonts/MontserratMedium-boldItalic.fntdata"/><Relationship Id="rId14" Type="http://schemas.openxmlformats.org/officeDocument/2006/relationships/slide" Target="slides/slide10.xml"/><Relationship Id="rId36" Type="http://schemas.openxmlformats.org/officeDocument/2006/relationships/font" Target="fonts/MontserratMedium-italic.fntdata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38" Type="http://customschemas.google.com/relationships/presentationmetadata" Target="metadata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5eef5e508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5eef5e508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de384818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de384818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200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Actualmente, muchas juntas de vecinos en Chile gestionan su información de manera manual o mediante herramientas poco estructuradas, como planillas de cálculo, grupos de mensajería o registros en papel. Esta forma de trabajo genera múltiples dificultades en la organización y administración de la información comunitaria.</a:t>
            </a:r>
            <a:endParaRPr sz="1200">
              <a:solidFill>
                <a:srgbClr val="5E696C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5E696C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200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Entre los principales problemas se encuentran la pérdida o duplicación de datos, la falta de acceso oportuno a la información por parte de los vecinos y la escasa trazabilidad de procesos como solicitudes de certificados, reservas de espacios comunes o postulaciones a beneficios. Además, la comunicación entre la directiva y los vecinos suele ser ineficiente, lo que provoca desinformación y baja participación comunitaria.</a:t>
            </a:r>
            <a:endParaRPr sz="1200">
              <a:solidFill>
                <a:srgbClr val="5E696C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5E696C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200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Asimismo, la ausencia de un sistema centralizado dificulta la generación de reportes e indicadores relevantes, lo que limita la capacidad de la directiva para tomar decisiones informadas y oportunas. Esto afecta directamente la gestión de la comunidad y la calidad de los servicios ofrecidos a los vecinos.</a:t>
            </a:r>
            <a:endParaRPr sz="1200">
              <a:solidFill>
                <a:srgbClr val="5E696C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5E696C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En este contexto, surge la necesidad de desarrollar una solución tecnológica que permita centralizar la información, optimizar los procesos administrativos y mejorar la comunicación dentro de la comunidad, contribuyendo a una gestión más eficiente y organizada de las juntas de vecinos.</a:t>
            </a:r>
            <a:endParaRPr sz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d5eef5e508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d5eef5e508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d5eef5e508_0_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d5eef5e508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de38481818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de3848181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>
              <a:solidFill>
                <a:srgbClr val="1F386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s-ES" sz="1000">
                <a:latin typeface="Calibri"/>
                <a:ea typeface="Calibri"/>
                <a:cs typeface="Calibri"/>
                <a:sym typeface="Calibri"/>
              </a:rPr>
              <a:t>Desarrollar un sistema web responsivo que permita la gestión,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latin typeface="Calibri"/>
                <a:ea typeface="Calibri"/>
                <a:cs typeface="Calibri"/>
                <a:sym typeface="Calibri"/>
              </a:rPr>
              <a:t>análisis y comunicación de la información de una junta de vecinos,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latin typeface="Calibri"/>
                <a:ea typeface="Calibri"/>
                <a:cs typeface="Calibri"/>
                <a:sym typeface="Calibri"/>
              </a:rPr>
              <a:t>facilitando la toma de decisiones y la interacción comunitaria.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>
              <a:solidFill>
                <a:srgbClr val="1F386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3500" lvl="0" marL="1800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b="1" i="1" lang="es-ES" sz="1200">
                <a:latin typeface="Calibri"/>
                <a:ea typeface="Calibri"/>
                <a:cs typeface="Calibri"/>
                <a:sym typeface="Calibri"/>
              </a:rPr>
              <a:t>Reducir en al menos un 50% el tiempo de gestión de solicitudes</a:t>
            </a:r>
            <a:r>
              <a:rPr i="1" lang="es-ES" sz="1000">
                <a:latin typeface="Calibri"/>
                <a:ea typeface="Calibri"/>
                <a:cs typeface="Calibri"/>
                <a:sym typeface="Calibri"/>
              </a:rPr>
              <a:t> (certificados, reservas y postulaciones) mediante la digitalización de procesos.</a:t>
            </a:r>
            <a:endParaRPr i="1" sz="1000">
              <a:latin typeface="Calibri"/>
              <a:ea typeface="Calibri"/>
              <a:cs typeface="Calibri"/>
              <a:sym typeface="Calibri"/>
            </a:endParaRPr>
          </a:p>
          <a:p>
            <a:pPr indent="-243500" lvl="0" marL="1800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i="1" lang="es-ES" sz="1000">
                <a:latin typeface="Calibri"/>
                <a:ea typeface="Calibri"/>
                <a:cs typeface="Calibri"/>
                <a:sym typeface="Calibri"/>
              </a:rPr>
              <a:t>Alcanzar un 70% de uso activo del sistema por parte de los usuarios registrados durante el periodo de prueba.</a:t>
            </a:r>
            <a:endParaRPr i="1" sz="1000">
              <a:latin typeface="Calibri"/>
              <a:ea typeface="Calibri"/>
              <a:cs typeface="Calibri"/>
              <a:sym typeface="Calibri"/>
            </a:endParaRPr>
          </a:p>
          <a:p>
            <a:pPr indent="-243500" lvl="0" marL="1800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b="1" i="1" lang="es-ES" sz="1200">
                <a:latin typeface="Calibri"/>
                <a:ea typeface="Calibri"/>
                <a:cs typeface="Calibri"/>
                <a:sym typeface="Calibri"/>
              </a:rPr>
              <a:t>Disminuir en un 60% el uso de medios informales de comunicación</a:t>
            </a:r>
            <a:r>
              <a:rPr i="1" lang="es-ES" sz="1000">
                <a:latin typeface="Calibri"/>
                <a:ea typeface="Calibri"/>
                <a:cs typeface="Calibri"/>
                <a:sym typeface="Calibri"/>
              </a:rPr>
              <a:t> (como WhatsApp) mediante la implementación de la plataforma.</a:t>
            </a:r>
            <a:endParaRPr i="1" sz="1000">
              <a:latin typeface="Calibri"/>
              <a:ea typeface="Calibri"/>
              <a:cs typeface="Calibri"/>
              <a:sym typeface="Calibri"/>
            </a:endParaRPr>
          </a:p>
          <a:p>
            <a:pPr indent="-243500" lvl="0" marL="1800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i="1" lang="es-ES" sz="1000">
                <a:latin typeface="Calibri"/>
                <a:ea typeface="Calibri"/>
                <a:cs typeface="Calibri"/>
                <a:sym typeface="Calibri"/>
              </a:rPr>
              <a:t>Garantizar que el sistema permita generar al menos 5 indicadores clave (ej: cantidad de habitantes, participación, necesidades especiales) visualizados en dashboards.</a:t>
            </a:r>
            <a:endParaRPr i="1" sz="1000">
              <a:latin typeface="Calibri"/>
              <a:ea typeface="Calibri"/>
              <a:cs typeface="Calibri"/>
              <a:sym typeface="Calibri"/>
            </a:endParaRPr>
          </a:p>
          <a:p>
            <a:pPr indent="-243500" lvl="0" marL="1800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i="1" lang="es-ES" sz="1000">
                <a:latin typeface="Calibri"/>
                <a:ea typeface="Calibri"/>
                <a:cs typeface="Calibri"/>
                <a:sym typeface="Calibri"/>
              </a:rPr>
              <a:t>Lograr que el sistema tenga un tiempo de respuesta menor a 5 segundos en las principales funcionalidades.</a:t>
            </a:r>
            <a:endParaRPr i="1" sz="1000">
              <a:latin typeface="Calibri"/>
              <a:ea typeface="Calibri"/>
              <a:cs typeface="Calibri"/>
              <a:sym typeface="Calibri"/>
            </a:endParaRPr>
          </a:p>
          <a:p>
            <a:pPr indent="-243500" lvl="0" marL="1800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b="1" i="1" lang="es-ES" sz="1300">
                <a:latin typeface="Calibri"/>
                <a:ea typeface="Calibri"/>
                <a:cs typeface="Calibri"/>
                <a:sym typeface="Calibri"/>
              </a:rPr>
              <a:t>Alcanzar un nivel de satisfacción de usuario igual o superior al 70%</a:t>
            </a:r>
            <a:r>
              <a:rPr i="1" lang="es-ES" sz="1000">
                <a:latin typeface="Calibri"/>
                <a:ea typeface="Calibri"/>
                <a:cs typeface="Calibri"/>
                <a:sym typeface="Calibri"/>
              </a:rPr>
              <a:t>, medido mediante encuesta de usabilidad. </a:t>
            </a:r>
            <a:endParaRPr>
              <a:solidFill>
                <a:srgbClr val="59595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d5eef5e508_0_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d5eef5e508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e38481818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e38481818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5eef5e508_0_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d5eef5e508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de38481818_0_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de3848181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d5eef5e508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d5eef5e508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e38481818_0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e38481818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HTML		Tecnología		Lenguaje base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CSS		Tecnología		Lenguaje de estilos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Bootstrap	Herramienta		Facilita el diseño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Angular	Herramienta		Framework para desarrollar apps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Django		Herramienta		Framework backend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JavaScript	Tecnología		Lenguaje de programación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Supabase	Herramienta		Plataforma lista para usar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5eef5e508_0_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5eef5e508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e38481818_0_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e38481818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5eef5e508_0_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5eef5e508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e38481818_0_3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de38481818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5eef5e508_0_2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5eef5e508_0_2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d5eef5e508_0_105"/>
          <p:cNvSpPr/>
          <p:nvPr/>
        </p:nvSpPr>
        <p:spPr>
          <a:xfrm>
            <a:off x="3665400" y="998400"/>
            <a:ext cx="4861200" cy="486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g3d5eef5e508_0_105"/>
          <p:cNvSpPr/>
          <p:nvPr/>
        </p:nvSpPr>
        <p:spPr>
          <a:xfrm>
            <a:off x="3990600" y="1323600"/>
            <a:ext cx="4210800" cy="4210800"/>
          </a:xfrm>
          <a:prstGeom prst="rect">
            <a:avLst/>
          </a:prstGeom>
          <a:noFill/>
          <a:ln cap="flat" cmpd="sng" w="381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g3d5eef5e508_0_105"/>
          <p:cNvSpPr txBox="1"/>
          <p:nvPr>
            <p:ph type="ctrTitle"/>
          </p:nvPr>
        </p:nvSpPr>
        <p:spPr>
          <a:xfrm>
            <a:off x="4128333" y="2169600"/>
            <a:ext cx="3935100" cy="2112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3" name="Google Shape;13;g3d5eef5e508_0_105"/>
          <p:cNvSpPr txBox="1"/>
          <p:nvPr>
            <p:ph idx="1" type="subTitle"/>
          </p:nvPr>
        </p:nvSpPr>
        <p:spPr>
          <a:xfrm>
            <a:off x="4128483" y="4355907"/>
            <a:ext cx="3935100" cy="935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fair Display"/>
              <a:buNone/>
              <a:defRPr b="1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fair Display"/>
              <a:buNone/>
              <a:defRPr b="1" sz="2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fair Display"/>
              <a:buNone/>
              <a:defRPr b="1" sz="2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fair Display"/>
              <a:buNone/>
              <a:defRPr b="1" sz="2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fair Display"/>
              <a:buNone/>
              <a:defRPr b="1" sz="2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fair Display"/>
              <a:buNone/>
              <a:defRPr b="1" sz="2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fair Display"/>
              <a:buNone/>
              <a:defRPr b="1" sz="2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fair Display"/>
              <a:buNone/>
              <a:defRPr b="1" sz="2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fair Display"/>
              <a:buNone/>
              <a:defRPr b="1" sz="2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4" name="Google Shape;14;g3d5eef5e508_0_105"/>
          <p:cNvSpPr txBox="1"/>
          <p:nvPr>
            <p:ph idx="12" type="sldNum"/>
          </p:nvPr>
        </p:nvSpPr>
        <p:spPr>
          <a:xfrm>
            <a:off x="11320333" y="6241346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3d5eef5e508_0_111"/>
          <p:cNvSpPr txBox="1"/>
          <p:nvPr>
            <p:ph type="title"/>
          </p:nvPr>
        </p:nvSpPr>
        <p:spPr>
          <a:xfrm>
            <a:off x="679400" y="1898500"/>
            <a:ext cx="10833300" cy="2397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7" name="Google Shape;17;g3d5eef5e508_0_111"/>
          <p:cNvSpPr txBox="1"/>
          <p:nvPr>
            <p:ph idx="12" type="sldNum"/>
          </p:nvPr>
        </p:nvSpPr>
        <p:spPr>
          <a:xfrm>
            <a:off x="11320333" y="6241346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g3d5eef5e508_0_114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g3d5eef5e508_0_114"/>
          <p:cNvSpPr txBox="1"/>
          <p:nvPr>
            <p:ph type="title"/>
          </p:nvPr>
        </p:nvSpPr>
        <p:spPr>
          <a:xfrm>
            <a:off x="415600" y="521800"/>
            <a:ext cx="11360700" cy="834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9pPr>
          </a:lstStyle>
          <a:p/>
        </p:txBody>
      </p:sp>
      <p:sp>
        <p:nvSpPr>
          <p:cNvPr id="21" name="Google Shape;21;g3d5eef5e508_0_114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22" name="Google Shape;22;g3d5eef5e508_0_114"/>
          <p:cNvSpPr txBox="1"/>
          <p:nvPr>
            <p:ph idx="12" type="sldNum"/>
          </p:nvPr>
        </p:nvSpPr>
        <p:spPr>
          <a:xfrm>
            <a:off x="11320333" y="6241346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g3d5eef5e508_0_119"/>
          <p:cNvSpPr txBox="1"/>
          <p:nvPr>
            <p:ph type="title"/>
          </p:nvPr>
        </p:nvSpPr>
        <p:spPr>
          <a:xfrm>
            <a:off x="415600" y="521800"/>
            <a:ext cx="11360700" cy="834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9pPr>
          </a:lstStyle>
          <a:p/>
        </p:txBody>
      </p:sp>
      <p:sp>
        <p:nvSpPr>
          <p:cNvPr id="25" name="Google Shape;25;g3d5eef5e508_0_119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6" name="Google Shape;26;g3d5eef5e508_0_119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7" name="Google Shape;27;g3d5eef5e508_0_119"/>
          <p:cNvSpPr txBox="1"/>
          <p:nvPr>
            <p:ph idx="12" type="sldNum"/>
          </p:nvPr>
        </p:nvSpPr>
        <p:spPr>
          <a:xfrm>
            <a:off x="11320333" y="6241346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d5eef5e508_0_124"/>
          <p:cNvSpPr txBox="1"/>
          <p:nvPr>
            <p:ph type="title"/>
          </p:nvPr>
        </p:nvSpPr>
        <p:spPr>
          <a:xfrm>
            <a:off x="415600" y="521800"/>
            <a:ext cx="11360700" cy="834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9pPr>
          </a:lstStyle>
          <a:p/>
        </p:txBody>
      </p:sp>
      <p:sp>
        <p:nvSpPr>
          <p:cNvPr id="30" name="Google Shape;30;g3d5eef5e508_0_124"/>
          <p:cNvSpPr txBox="1"/>
          <p:nvPr>
            <p:ph idx="12" type="sldNum"/>
          </p:nvPr>
        </p:nvSpPr>
        <p:spPr>
          <a:xfrm>
            <a:off x="11320333" y="6241346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3d5eef5e508_0_127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3" name="Google Shape;33;g3d5eef5e508_0_127"/>
          <p:cNvSpPr txBox="1"/>
          <p:nvPr>
            <p:ph idx="1" type="body"/>
          </p:nvPr>
        </p:nvSpPr>
        <p:spPr>
          <a:xfrm>
            <a:off x="415600" y="1855170"/>
            <a:ext cx="3744000" cy="4239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4" name="Google Shape;34;g3d5eef5e508_0_127"/>
          <p:cNvSpPr txBox="1"/>
          <p:nvPr>
            <p:ph idx="12" type="sldNum"/>
          </p:nvPr>
        </p:nvSpPr>
        <p:spPr>
          <a:xfrm>
            <a:off x="11320333" y="6241346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d5eef5e508_0_131"/>
          <p:cNvSpPr txBox="1"/>
          <p:nvPr>
            <p:ph type="title"/>
          </p:nvPr>
        </p:nvSpPr>
        <p:spPr>
          <a:xfrm>
            <a:off x="653667" y="701800"/>
            <a:ext cx="74916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Lato"/>
              <a:buNone/>
              <a:defRPr b="0" sz="64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37" name="Google Shape;37;g3d5eef5e508_0_131"/>
          <p:cNvSpPr txBox="1"/>
          <p:nvPr>
            <p:ph idx="12" type="sldNum"/>
          </p:nvPr>
        </p:nvSpPr>
        <p:spPr>
          <a:xfrm>
            <a:off x="11320333" y="6241346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d5eef5e508_0_134"/>
          <p:cNvSpPr/>
          <p:nvPr/>
        </p:nvSpPr>
        <p:spPr>
          <a:xfrm>
            <a:off x="6096000" y="-33"/>
            <a:ext cx="6096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g3d5eef5e508_0_134"/>
          <p:cNvCxnSpPr/>
          <p:nvPr/>
        </p:nvCxnSpPr>
        <p:spPr>
          <a:xfrm>
            <a:off x="6706233" y="5994000"/>
            <a:ext cx="624300" cy="0"/>
          </a:xfrm>
          <a:prstGeom prst="straightConnector1">
            <a:avLst/>
          </a:prstGeom>
          <a:noFill/>
          <a:ln cap="flat" cmpd="sng" w="254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g3d5eef5e508_0_134"/>
          <p:cNvSpPr txBox="1"/>
          <p:nvPr>
            <p:ph type="title"/>
          </p:nvPr>
        </p:nvSpPr>
        <p:spPr>
          <a:xfrm>
            <a:off x="354000" y="1477267"/>
            <a:ext cx="5393700" cy="2244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42" name="Google Shape;42;g3d5eef5e508_0_134"/>
          <p:cNvSpPr txBox="1"/>
          <p:nvPr>
            <p:ph idx="1" type="subTitle"/>
          </p:nvPr>
        </p:nvSpPr>
        <p:spPr>
          <a:xfrm>
            <a:off x="354000" y="3793601"/>
            <a:ext cx="5393700" cy="179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3" name="Google Shape;43;g3d5eef5e508_0_134"/>
          <p:cNvSpPr txBox="1"/>
          <p:nvPr>
            <p:ph idx="2" type="body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g3d5eef5e508_0_134"/>
          <p:cNvSpPr txBox="1"/>
          <p:nvPr>
            <p:ph idx="12" type="sldNum"/>
          </p:nvPr>
        </p:nvSpPr>
        <p:spPr>
          <a:xfrm>
            <a:off x="11320333" y="6241346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d5eef5e508_0_141"/>
          <p:cNvSpPr txBox="1"/>
          <p:nvPr>
            <p:ph idx="1" type="body"/>
          </p:nvPr>
        </p:nvSpPr>
        <p:spPr>
          <a:xfrm>
            <a:off x="426000" y="5640767"/>
            <a:ext cx="7998300" cy="798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7" name="Google Shape;47;g3d5eef5e508_0_141"/>
          <p:cNvSpPr txBox="1"/>
          <p:nvPr>
            <p:ph idx="12" type="sldNum"/>
          </p:nvPr>
        </p:nvSpPr>
        <p:spPr>
          <a:xfrm>
            <a:off x="11320333" y="6241346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d5eef5e508_0_144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g3d5eef5e508_0_144"/>
          <p:cNvSpPr txBox="1"/>
          <p:nvPr>
            <p:ph hasCustomPrompt="1" type="title"/>
          </p:nvPr>
        </p:nvSpPr>
        <p:spPr>
          <a:xfrm>
            <a:off x="415600" y="1644133"/>
            <a:ext cx="11360700" cy="2146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3300"/>
              <a:buFont typeface="Lato"/>
              <a:buNone/>
              <a:defRPr sz="13300"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3300"/>
              <a:buFont typeface="Lato"/>
              <a:buNone/>
              <a:defRPr sz="13300"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3300"/>
              <a:buFont typeface="Lato"/>
              <a:buNone/>
              <a:defRPr sz="13300"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3300"/>
              <a:buFont typeface="Lato"/>
              <a:buNone/>
              <a:defRPr sz="13300"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3300"/>
              <a:buFont typeface="Lato"/>
              <a:buNone/>
              <a:defRPr sz="13300"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3300"/>
              <a:buFont typeface="Lato"/>
              <a:buNone/>
              <a:defRPr sz="13300"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3300"/>
              <a:buFont typeface="Lato"/>
              <a:buNone/>
              <a:defRPr sz="13300"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3300"/>
              <a:buFont typeface="Lato"/>
              <a:buNone/>
              <a:defRPr sz="13300"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3300"/>
              <a:buFont typeface="Lato"/>
              <a:buNone/>
              <a:defRPr sz="13300"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g3d5eef5e508_0_144"/>
          <p:cNvSpPr txBox="1"/>
          <p:nvPr>
            <p:ph idx="1" type="body"/>
          </p:nvPr>
        </p:nvSpPr>
        <p:spPr>
          <a:xfrm>
            <a:off x="415600" y="3892600"/>
            <a:ext cx="11360700" cy="1428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52" name="Google Shape;52;g3d5eef5e508_0_144"/>
          <p:cNvSpPr txBox="1"/>
          <p:nvPr>
            <p:ph idx="12" type="sldNum"/>
          </p:nvPr>
        </p:nvSpPr>
        <p:spPr>
          <a:xfrm>
            <a:off x="11320333" y="6241346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d5eef5e508_0_149"/>
          <p:cNvSpPr txBox="1"/>
          <p:nvPr>
            <p:ph idx="12" type="sldNum"/>
          </p:nvPr>
        </p:nvSpPr>
        <p:spPr>
          <a:xfrm>
            <a:off x="11320333" y="6241346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5eef5e508_0_15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9pPr>
          </a:lstStyle>
          <a:p/>
        </p:txBody>
      </p:sp>
      <p:sp>
        <p:nvSpPr>
          <p:cNvPr id="57" name="Google Shape;57;g3d5eef5e508_0_151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8" name="Google Shape;58;g3d5eef5e508_0_15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g3d5eef5e508_0_15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g3d5eef5e508_0_15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coral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d5eef5e508_0_101"/>
          <p:cNvSpPr txBox="1"/>
          <p:nvPr>
            <p:ph type="title"/>
          </p:nvPr>
        </p:nvSpPr>
        <p:spPr>
          <a:xfrm>
            <a:off x="415600" y="521800"/>
            <a:ext cx="113607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Playfair Display"/>
              <a:buNone/>
              <a:defRPr b="1" sz="43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Playfair Display"/>
              <a:buNone/>
              <a:defRPr b="1" sz="43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Playfair Display"/>
              <a:buNone/>
              <a:defRPr b="1" sz="43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Playfair Display"/>
              <a:buNone/>
              <a:defRPr b="1" sz="43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Playfair Display"/>
              <a:buNone/>
              <a:defRPr b="1" sz="43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Playfair Display"/>
              <a:buNone/>
              <a:defRPr b="1" sz="43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Playfair Display"/>
              <a:buNone/>
              <a:defRPr b="1" sz="43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Playfair Display"/>
              <a:buNone/>
              <a:defRPr b="1" sz="43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Playfair Display"/>
              <a:buNone/>
              <a:defRPr b="1" sz="43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g3d5eef5e508_0_10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Lato"/>
              <a:buChar char="●"/>
              <a:defRPr sz="24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Lato"/>
              <a:buChar char="○"/>
              <a:defRPr sz="19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Lato"/>
              <a:buChar char="■"/>
              <a:defRPr sz="19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Lato"/>
              <a:buChar char="●"/>
              <a:defRPr sz="19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Lato"/>
              <a:buChar char="○"/>
              <a:defRPr sz="19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Lato"/>
              <a:buChar char="■"/>
              <a:defRPr sz="19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Lato"/>
              <a:buChar char="●"/>
              <a:defRPr sz="19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Lato"/>
              <a:buChar char="○"/>
              <a:defRPr sz="19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Lato"/>
              <a:buChar char="■"/>
              <a:defRPr sz="19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g3d5eef5e508_0_101"/>
          <p:cNvSpPr txBox="1"/>
          <p:nvPr>
            <p:ph idx="12" type="sldNum"/>
          </p:nvPr>
        </p:nvSpPr>
        <p:spPr>
          <a:xfrm>
            <a:off x="11320333" y="6241346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3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3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3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3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3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3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3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3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9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8.png"/><Relationship Id="rId7" Type="http://schemas.openxmlformats.org/officeDocument/2006/relationships/image" Target="../media/image4.png"/><Relationship Id="rId8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15.png"/><Relationship Id="rId5" Type="http://schemas.openxmlformats.org/officeDocument/2006/relationships/image" Target="../media/image10.png"/><Relationship Id="rId6" Type="http://schemas.openxmlformats.org/officeDocument/2006/relationships/image" Target="../media/image9.png"/><Relationship Id="rId7" Type="http://schemas.openxmlformats.org/officeDocument/2006/relationships/image" Target="../media/image13.png"/><Relationship Id="rId8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"/>
          <p:cNvSpPr txBox="1"/>
          <p:nvPr>
            <p:ph type="ctrTitle"/>
          </p:nvPr>
        </p:nvSpPr>
        <p:spPr>
          <a:xfrm>
            <a:off x="4010425" y="1355625"/>
            <a:ext cx="4170900" cy="308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s-ES"/>
              <a:t>Sistema de Gestión de Juntas de Vecinos</a:t>
            </a:r>
            <a:endParaRPr/>
          </a:p>
        </p:txBody>
      </p:sp>
      <p:sp>
        <p:nvSpPr>
          <p:cNvPr id="66" name="Google Shape;66;p1"/>
          <p:cNvSpPr txBox="1"/>
          <p:nvPr>
            <p:ph idx="1" type="subTitle"/>
          </p:nvPr>
        </p:nvSpPr>
        <p:spPr>
          <a:xfrm>
            <a:off x="4128333" y="4566457"/>
            <a:ext cx="3935100" cy="9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5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0" lang="es-ES">
                <a:latin typeface="Nunito"/>
                <a:ea typeface="Nunito"/>
                <a:cs typeface="Nunito"/>
                <a:sym typeface="Nunito"/>
              </a:rPr>
              <a:t>Integrantes:</a:t>
            </a:r>
            <a:endParaRPr b="0">
              <a:latin typeface="Nunito"/>
              <a:ea typeface="Nunito"/>
              <a:cs typeface="Nunito"/>
              <a:sym typeface="Nunito"/>
            </a:endParaRPr>
          </a:p>
          <a:p>
            <a:pPr indent="-31242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unito"/>
              <a:buChar char="●"/>
            </a:pPr>
            <a:r>
              <a:rPr b="0" lang="es-ES">
                <a:latin typeface="Nunito"/>
                <a:ea typeface="Nunito"/>
                <a:cs typeface="Nunito"/>
                <a:sym typeface="Nunito"/>
              </a:rPr>
              <a:t>Edinson Delgado Reinoso</a:t>
            </a:r>
            <a:endParaRPr b="0">
              <a:latin typeface="Nunito"/>
              <a:ea typeface="Nunito"/>
              <a:cs typeface="Nunito"/>
              <a:sym typeface="Nunito"/>
            </a:endParaRPr>
          </a:p>
          <a:p>
            <a:pPr indent="-31242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unito"/>
              <a:buChar char="●"/>
            </a:pPr>
            <a:r>
              <a:rPr b="0" lang="es-ES">
                <a:latin typeface="Nunito"/>
                <a:ea typeface="Nunito"/>
                <a:cs typeface="Nunito"/>
                <a:sym typeface="Nunito"/>
              </a:rPr>
              <a:t>Leandro Caceres Mayorinca</a:t>
            </a:r>
            <a:endParaRPr b="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-ES">
                <a:latin typeface="Nunito"/>
                <a:ea typeface="Nunito"/>
                <a:cs typeface="Nunito"/>
                <a:sym typeface="Nunito"/>
              </a:rPr>
              <a:t>INGENIERÍA EN INFORMÁTICA</a:t>
            </a:r>
            <a:endParaRPr b="0"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d5eef5e508_0_2"/>
          <p:cNvSpPr txBox="1"/>
          <p:nvPr>
            <p:ph type="title"/>
          </p:nvPr>
        </p:nvSpPr>
        <p:spPr>
          <a:xfrm>
            <a:off x="679400" y="1898500"/>
            <a:ext cx="10833300" cy="2397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/>
          <a:p>
            <a:pPr indent="-438150" lvl="0" marL="457200" rtl="0" algn="l">
              <a:spcBef>
                <a:spcPts val="518"/>
              </a:spcBef>
              <a:spcAft>
                <a:spcPts val="0"/>
              </a:spcAft>
              <a:buSzPts val="3300"/>
              <a:buFont typeface="Montserrat Medium"/>
              <a:buAutoNum type="arabicPeriod"/>
            </a:pP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Descripción del Proyecto</a:t>
            </a:r>
            <a:endParaRPr sz="33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e38481818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406400" lvl="0" marL="457200" rtl="0" algn="l">
              <a:lnSpc>
                <a:spcPct val="100000"/>
              </a:lnSpc>
              <a:spcBef>
                <a:spcPts val="518"/>
              </a:spcBef>
              <a:spcAft>
                <a:spcPts val="0"/>
              </a:spcAft>
              <a:buSzPts val="2800"/>
              <a:buAutoNum type="arabicPeriod"/>
            </a:pPr>
            <a:r>
              <a:rPr lang="es-ES" sz="2800"/>
              <a:t>Descripción del Proyecto</a:t>
            </a:r>
            <a:endParaRPr/>
          </a:p>
        </p:txBody>
      </p:sp>
      <p:sp>
        <p:nvSpPr>
          <p:cNvPr id="77" name="Google Shape;77;g3de38481818_0_0"/>
          <p:cNvSpPr txBox="1"/>
          <p:nvPr>
            <p:ph idx="1" type="body"/>
          </p:nvPr>
        </p:nvSpPr>
        <p:spPr>
          <a:xfrm>
            <a:off x="2522775" y="1732775"/>
            <a:ext cx="5226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ES" sz="2500"/>
              <a:t>Problemática</a:t>
            </a:r>
            <a:endParaRPr b="1" sz="2500"/>
          </a:p>
          <a:p>
            <a:pPr indent="-3683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200"/>
              <a:buChar char="●"/>
            </a:pPr>
            <a:r>
              <a:rPr lang="es-ES" sz="2200"/>
              <a:t>Gestión manual o desorganizada.</a:t>
            </a:r>
            <a:endParaRPr sz="2200"/>
          </a:p>
          <a:p>
            <a:pPr indent="-3683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lang="es-ES" sz="2200"/>
              <a:t>Pérdida de información.</a:t>
            </a:r>
            <a:endParaRPr sz="2200"/>
          </a:p>
          <a:p>
            <a:pPr indent="-3683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lang="es-ES" sz="2200"/>
              <a:t>Mala comunicación entre vecinos.</a:t>
            </a:r>
            <a:endParaRPr sz="2200"/>
          </a:p>
          <a:p>
            <a:pPr indent="-3683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lang="es-ES" sz="2200"/>
              <a:t>Procesos lentos (certificados, postulaciones, reservas).</a:t>
            </a:r>
            <a:endParaRPr sz="2200"/>
          </a:p>
          <a:p>
            <a:pPr indent="-3683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000"/>
              </a:spcAft>
              <a:buSzPts val="2200"/>
              <a:buChar char="●"/>
            </a:pPr>
            <a:r>
              <a:rPr lang="es-ES" sz="2200"/>
              <a:t>Falta de datos para tomar decisiones.</a:t>
            </a:r>
            <a:endParaRPr sz="2200"/>
          </a:p>
        </p:txBody>
      </p:sp>
      <p:pic>
        <p:nvPicPr>
          <p:cNvPr id="78" name="Google Shape;78;g3de38481818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8300" y="2349662"/>
            <a:ext cx="2928675" cy="292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5eef5e508_0_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406400" lvl="0" marL="457200" rtl="0" algn="l">
              <a:lnSpc>
                <a:spcPct val="100000"/>
              </a:lnSpc>
              <a:spcBef>
                <a:spcPts val="518"/>
              </a:spcBef>
              <a:spcAft>
                <a:spcPts val="0"/>
              </a:spcAft>
              <a:buSzPts val="2800"/>
              <a:buAutoNum type="arabicPeriod"/>
            </a:pPr>
            <a:r>
              <a:rPr lang="es-ES" sz="2800"/>
              <a:t>Descripción del Proyecto</a:t>
            </a:r>
            <a:endParaRPr/>
          </a:p>
        </p:txBody>
      </p:sp>
      <p:sp>
        <p:nvSpPr>
          <p:cNvPr id="84" name="Google Shape;84;g3d5eef5e508_0_8"/>
          <p:cNvSpPr txBox="1"/>
          <p:nvPr>
            <p:ph idx="1" type="body"/>
          </p:nvPr>
        </p:nvSpPr>
        <p:spPr>
          <a:xfrm>
            <a:off x="2547300" y="1753550"/>
            <a:ext cx="35487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ES" sz="2200">
                <a:solidFill>
                  <a:schemeClr val="accent1"/>
                </a:solidFill>
              </a:rPr>
              <a:t>Propuesta</a:t>
            </a:r>
            <a:r>
              <a:rPr b="1" lang="es-ES" sz="2200">
                <a:solidFill>
                  <a:schemeClr val="accent1"/>
                </a:solidFill>
              </a:rPr>
              <a:t> de Solución</a:t>
            </a:r>
            <a:endParaRPr b="1" sz="2200">
              <a:solidFill>
                <a:schemeClr val="accent1"/>
              </a:solidFill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Font typeface="Arial"/>
              <a:buChar char="●"/>
            </a:pPr>
            <a:r>
              <a:rPr lang="es-ES" sz="1900">
                <a:latin typeface="Arial"/>
                <a:ea typeface="Arial"/>
                <a:cs typeface="Arial"/>
                <a:sym typeface="Arial"/>
              </a:rPr>
              <a:t>Sistema web responsivo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900"/>
              <a:buFont typeface="Arial"/>
              <a:buChar char="●"/>
            </a:pPr>
            <a:r>
              <a:rPr lang="es-ES" sz="1900">
                <a:latin typeface="Arial"/>
                <a:ea typeface="Arial"/>
                <a:cs typeface="Arial"/>
                <a:sym typeface="Arial"/>
              </a:rPr>
              <a:t>Centraliza la información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900"/>
              <a:buFont typeface="Arial"/>
              <a:buChar char="●"/>
            </a:pPr>
            <a:r>
              <a:rPr lang="es-ES" sz="1900">
                <a:latin typeface="Arial"/>
                <a:ea typeface="Arial"/>
                <a:cs typeface="Arial"/>
                <a:sym typeface="Arial"/>
              </a:rPr>
              <a:t>Automatiza procesos (certificados, reservas, postulaciones)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900"/>
              <a:buFont typeface="Arial"/>
              <a:buChar char="●"/>
            </a:pPr>
            <a:r>
              <a:rPr lang="es-ES" sz="1900">
                <a:latin typeface="Arial"/>
                <a:ea typeface="Arial"/>
                <a:cs typeface="Arial"/>
                <a:sym typeface="Arial"/>
              </a:rPr>
              <a:t>Mejora la comunicación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000"/>
              </a:spcAft>
              <a:buSzPts val="1900"/>
              <a:buFont typeface="Arial"/>
              <a:buChar char="●"/>
            </a:pPr>
            <a:r>
              <a:rPr lang="es-ES" sz="1900">
                <a:latin typeface="Arial"/>
                <a:ea typeface="Arial"/>
                <a:cs typeface="Arial"/>
                <a:sym typeface="Arial"/>
              </a:rPr>
              <a:t>Genera reportes y dashboards</a:t>
            </a:r>
            <a:endParaRPr sz="1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g3d5eef5e508_0_8"/>
          <p:cNvSpPr txBox="1"/>
          <p:nvPr>
            <p:ph idx="1" type="body"/>
          </p:nvPr>
        </p:nvSpPr>
        <p:spPr>
          <a:xfrm>
            <a:off x="6096000" y="1753550"/>
            <a:ext cx="35487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ES" sz="2200">
                <a:solidFill>
                  <a:schemeClr val="accent1"/>
                </a:solidFill>
              </a:rPr>
              <a:t>Descripción</a:t>
            </a:r>
            <a:endParaRPr b="1" sz="2200">
              <a:solidFill>
                <a:schemeClr val="accent1"/>
              </a:solidFill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Font typeface="Arial"/>
              <a:buChar char="●"/>
            </a:pPr>
            <a:r>
              <a:rPr lang="es-ES" sz="1900">
                <a:latin typeface="Arial"/>
                <a:ea typeface="Arial"/>
                <a:cs typeface="Arial"/>
                <a:sym typeface="Arial"/>
              </a:rPr>
              <a:t>Plataforma web para gestión de juntas de vecinos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900"/>
              <a:buFont typeface="Arial"/>
              <a:buChar char="●"/>
            </a:pPr>
            <a:r>
              <a:rPr lang="es-ES" sz="1900">
                <a:latin typeface="Arial"/>
                <a:ea typeface="Arial"/>
                <a:cs typeface="Arial"/>
                <a:sym typeface="Arial"/>
              </a:rPr>
              <a:t>Administra usuarios, vecinos y viviendas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900"/>
              <a:buFont typeface="Arial"/>
              <a:buChar char="●"/>
            </a:pPr>
            <a:r>
              <a:rPr lang="es-ES" sz="1900">
                <a:latin typeface="Arial"/>
                <a:ea typeface="Arial"/>
                <a:cs typeface="Arial"/>
                <a:sym typeface="Arial"/>
              </a:rPr>
              <a:t>Permite solicitudes, reservas y postulaciones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000"/>
              </a:spcAft>
              <a:buSzPts val="1900"/>
              <a:buFont typeface="Arial"/>
              <a:buChar char="●"/>
            </a:pPr>
            <a:r>
              <a:rPr lang="es-ES" sz="1900">
                <a:latin typeface="Arial"/>
                <a:ea typeface="Arial"/>
                <a:cs typeface="Arial"/>
                <a:sym typeface="Arial"/>
              </a:rPr>
              <a:t>Incluye noticias, notificaciones y análisis de datos</a:t>
            </a:r>
            <a:endParaRPr sz="19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6" name="Google Shape;86;g3d5eef5e508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500" y="3837775"/>
            <a:ext cx="2204250" cy="220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g3d5eef5e508_0_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20000" y="1690825"/>
            <a:ext cx="2204250" cy="2204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8" name="Google Shape;88;g3d5eef5e508_0_8"/>
          <p:cNvCxnSpPr/>
          <p:nvPr/>
        </p:nvCxnSpPr>
        <p:spPr>
          <a:xfrm flipH="1">
            <a:off x="6073900" y="1832000"/>
            <a:ext cx="18600" cy="42021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eef5e508_0_17"/>
          <p:cNvSpPr txBox="1"/>
          <p:nvPr>
            <p:ph type="title"/>
          </p:nvPr>
        </p:nvSpPr>
        <p:spPr>
          <a:xfrm>
            <a:off x="679400" y="1898500"/>
            <a:ext cx="10833300" cy="2397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/>
          <a:p>
            <a:pPr indent="0" lvl="0" marL="0" rtl="0" algn="l">
              <a:spcBef>
                <a:spcPts val="518"/>
              </a:spcBef>
              <a:spcAft>
                <a:spcPts val="0"/>
              </a:spcAft>
              <a:buNone/>
            </a:pP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2. Objetivos</a:t>
            </a:r>
            <a:endParaRPr sz="33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e38481818_0_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18"/>
              </a:spcBef>
              <a:spcAft>
                <a:spcPts val="0"/>
              </a:spcAft>
              <a:buNone/>
            </a:pPr>
            <a:r>
              <a:rPr lang="es-ES" sz="2800"/>
              <a:t>2. Objetivos</a:t>
            </a:r>
            <a:endParaRPr/>
          </a:p>
        </p:txBody>
      </p:sp>
      <p:sp>
        <p:nvSpPr>
          <p:cNvPr id="99" name="Google Shape;99;g3de38481818_0_5"/>
          <p:cNvSpPr txBox="1"/>
          <p:nvPr>
            <p:ph idx="1" type="body"/>
          </p:nvPr>
        </p:nvSpPr>
        <p:spPr>
          <a:xfrm>
            <a:off x="838200" y="1690825"/>
            <a:ext cx="10515600" cy="1715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ES" sz="2392">
                <a:solidFill>
                  <a:schemeClr val="accent1"/>
                </a:solidFill>
              </a:rPr>
              <a:t>Objetivo General</a:t>
            </a:r>
            <a:endParaRPr b="1" sz="2392">
              <a:solidFill>
                <a:schemeClr val="accent1"/>
              </a:solidFill>
            </a:endParaRPr>
          </a:p>
          <a:p>
            <a:pPr indent="0" lvl="0" marL="457200" rtl="0" algn="ctr">
              <a:lnSpc>
                <a:spcPct val="107916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ES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 sistema web responsivo que permita la gestión, análisis y comunicación de la información de una junta de vecinos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g3de38481818_0_5"/>
          <p:cNvSpPr txBox="1"/>
          <p:nvPr>
            <p:ph idx="1" type="body"/>
          </p:nvPr>
        </p:nvSpPr>
        <p:spPr>
          <a:xfrm>
            <a:off x="838200" y="3406625"/>
            <a:ext cx="10515600" cy="3113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ES" sz="2300">
                <a:solidFill>
                  <a:schemeClr val="accent1"/>
                </a:solidFill>
              </a:rPr>
              <a:t>Objetivos Específicos</a:t>
            </a:r>
            <a:endParaRPr b="1" sz="2300">
              <a:solidFill>
                <a:schemeClr val="accent1"/>
              </a:solidFill>
            </a:endParaRPr>
          </a:p>
          <a:p>
            <a:pPr indent="-298450" lvl="0" marL="45720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-ES" sz="1900"/>
              <a:t>Reducir en al menos un 50% el tiempo de gestión de solicitudes</a:t>
            </a:r>
            <a:r>
              <a:rPr lang="es-ES" sz="1500"/>
              <a:t> </a:t>
            </a:r>
            <a:endParaRPr sz="1500"/>
          </a:p>
          <a:p>
            <a:pPr indent="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/>
              <a:t>(certificados, reservas y postulaciones) mediante la digitalización de procesos.</a:t>
            </a:r>
            <a:endParaRPr sz="1500"/>
          </a:p>
          <a:p>
            <a:pPr indent="-298450" lvl="0" marL="45720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-ES" sz="1900"/>
              <a:t>Disminuir en un 60% el uso de medios informales de comunicación </a:t>
            </a:r>
            <a:endParaRPr sz="1900"/>
          </a:p>
          <a:p>
            <a:pPr indent="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/>
              <a:t>(como WhatsApp, pero  mediante la implementación de la plataforma)</a:t>
            </a:r>
            <a:endParaRPr sz="1500"/>
          </a:p>
          <a:p>
            <a:pPr indent="-298450" lvl="0" marL="45720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-ES" sz="1900"/>
              <a:t>Alcanzar un nivel de satisfacción de usuario igual o superior al 70% </a:t>
            </a:r>
            <a:endParaRPr sz="1900"/>
          </a:p>
          <a:p>
            <a:pPr indent="0" lvl="0" marL="45720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1500"/>
              <a:t>(medido mediante encuesta de usabilidad.)</a:t>
            </a:r>
            <a:endParaRPr b="1" sz="15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5eef5e508_0_22"/>
          <p:cNvSpPr txBox="1"/>
          <p:nvPr>
            <p:ph type="title"/>
          </p:nvPr>
        </p:nvSpPr>
        <p:spPr>
          <a:xfrm>
            <a:off x="679400" y="1898500"/>
            <a:ext cx="10833300" cy="2397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/>
          <a:p>
            <a:pPr indent="0" lvl="0" marL="0" rtl="0" algn="l">
              <a:spcBef>
                <a:spcPts val="518"/>
              </a:spcBef>
              <a:spcAft>
                <a:spcPts val="0"/>
              </a:spcAft>
              <a:buNone/>
            </a:pP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. </a:t>
            </a: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Alcances y Limitaciones</a:t>
            </a:r>
            <a:endParaRPr sz="33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e38481818_0_10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/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ES" sz="24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Limitaciones</a:t>
            </a:r>
            <a:endParaRPr b="1" sz="2400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s-ES" sz="2100">
                <a:latin typeface="Arial"/>
                <a:ea typeface="Arial"/>
                <a:cs typeface="Arial"/>
                <a:sym typeface="Arial"/>
              </a:rPr>
              <a:t>No integración con sistemas externos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s-ES" sz="2100">
                <a:latin typeface="Arial"/>
                <a:ea typeface="Arial"/>
                <a:cs typeface="Arial"/>
                <a:sym typeface="Arial"/>
              </a:rPr>
              <a:t>Certificados sin validez legal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s-ES" sz="2100">
                <a:latin typeface="Arial"/>
                <a:ea typeface="Arial"/>
                <a:cs typeface="Arial"/>
                <a:sym typeface="Arial"/>
              </a:rPr>
              <a:t>Sistema para una comunidad (no multi-junta)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s-ES" sz="2100">
                <a:latin typeface="Arial"/>
                <a:ea typeface="Arial"/>
                <a:cs typeface="Arial"/>
                <a:sym typeface="Arial"/>
              </a:rPr>
              <a:t>Seguridad básica (académico)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s-ES" sz="2100">
                <a:latin typeface="Arial"/>
                <a:ea typeface="Arial"/>
                <a:cs typeface="Arial"/>
                <a:sym typeface="Arial"/>
              </a:rPr>
              <a:t>Pruebas en entorno controlado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g3de38481818_0_10"/>
          <p:cNvSpPr txBox="1"/>
          <p:nvPr>
            <p:ph type="title"/>
          </p:nvPr>
        </p:nvSpPr>
        <p:spPr>
          <a:xfrm>
            <a:off x="415600" y="521800"/>
            <a:ext cx="11360700" cy="834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18"/>
              </a:spcBef>
              <a:spcAft>
                <a:spcPts val="0"/>
              </a:spcAft>
              <a:buNone/>
            </a:pPr>
            <a:r>
              <a:rPr lang="es-ES" sz="2800"/>
              <a:t>3. Alcances y Limitaciones</a:t>
            </a:r>
            <a:endParaRPr/>
          </a:p>
        </p:txBody>
      </p:sp>
      <p:sp>
        <p:nvSpPr>
          <p:cNvPr id="112" name="Google Shape;112;g3de38481818_0_10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ES" sz="24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Alcances</a:t>
            </a:r>
            <a:endParaRPr b="1" sz="2400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lang="es-ES" sz="2100">
                <a:latin typeface="Arial"/>
                <a:ea typeface="Arial"/>
                <a:cs typeface="Arial"/>
                <a:sym typeface="Arial"/>
              </a:rPr>
              <a:t>Sistema web responsivo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lang="es-ES" sz="2100">
                <a:latin typeface="Arial"/>
                <a:ea typeface="Arial"/>
                <a:cs typeface="Arial"/>
                <a:sym typeface="Arial"/>
              </a:rPr>
              <a:t>Gestión de usuarios y vecinos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lang="es-ES" sz="2100">
                <a:latin typeface="Arial"/>
                <a:ea typeface="Arial"/>
                <a:cs typeface="Arial"/>
                <a:sym typeface="Arial"/>
              </a:rPr>
              <a:t>Certificados de residencia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lang="es-ES" sz="2100">
                <a:latin typeface="Arial"/>
                <a:ea typeface="Arial"/>
                <a:cs typeface="Arial"/>
                <a:sym typeface="Arial"/>
              </a:rPr>
              <a:t>Reservas de espacios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lang="es-ES" sz="2100">
                <a:latin typeface="Arial"/>
                <a:ea typeface="Arial"/>
                <a:cs typeface="Arial"/>
                <a:sym typeface="Arial"/>
              </a:rPr>
              <a:t>Postulaciones a beneficios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lang="es-ES" sz="2100">
                <a:latin typeface="Arial"/>
                <a:ea typeface="Arial"/>
                <a:cs typeface="Arial"/>
                <a:sym typeface="Arial"/>
              </a:rPr>
              <a:t>Noticias y notificaciones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lang="es-ES" sz="2100">
                <a:latin typeface="Arial"/>
                <a:ea typeface="Arial"/>
                <a:cs typeface="Arial"/>
                <a:sym typeface="Arial"/>
              </a:rPr>
              <a:t>Reportes y dashboards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4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3" name="Google Shape;113;g3de38481818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46896" y="5201200"/>
            <a:ext cx="1325700" cy="1325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g3de38481818_0_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32625" y="5114024"/>
            <a:ext cx="1500050" cy="15000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5" name="Google Shape;115;g3de38481818_0_10"/>
          <p:cNvCxnSpPr/>
          <p:nvPr/>
        </p:nvCxnSpPr>
        <p:spPr>
          <a:xfrm flipH="1">
            <a:off x="6086650" y="1809325"/>
            <a:ext cx="18600" cy="42021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5eef5e508_0_28"/>
          <p:cNvSpPr txBox="1"/>
          <p:nvPr>
            <p:ph type="title"/>
          </p:nvPr>
        </p:nvSpPr>
        <p:spPr>
          <a:xfrm>
            <a:off x="679400" y="1898500"/>
            <a:ext cx="10833300" cy="2397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/>
          <a:p>
            <a:pPr indent="0" lvl="0" marL="0" rtl="0" algn="l">
              <a:spcBef>
                <a:spcPts val="518"/>
              </a:spcBef>
              <a:spcAft>
                <a:spcPts val="0"/>
              </a:spcAft>
              <a:buNone/>
            </a:pP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4</a:t>
            </a: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. </a:t>
            </a: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Metodología</a:t>
            </a:r>
            <a:endParaRPr sz="33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de38481818_0_15"/>
          <p:cNvSpPr txBox="1"/>
          <p:nvPr>
            <p:ph idx="2" type="body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utilizará </a:t>
            </a:r>
            <a:r>
              <a:rPr lang="es-ES"/>
              <a:t>la Metodología </a:t>
            </a:r>
            <a:r>
              <a:rPr b="1" lang="es-ES" sz="2500"/>
              <a:t>Kanban</a:t>
            </a:r>
            <a:endParaRPr b="1" sz="2500"/>
          </a:p>
          <a:p>
            <a:pPr indent="-381000" lvl="0" marL="457200" rtl="0" algn="ctr">
              <a:spcBef>
                <a:spcPts val="1600"/>
              </a:spcBef>
              <a:spcAft>
                <a:spcPts val="0"/>
              </a:spcAft>
              <a:buSzPts val="2400"/>
              <a:buChar char="●"/>
            </a:pPr>
            <a:r>
              <a:rPr lang="es-ES"/>
              <a:t>Trabajo visual</a:t>
            </a:r>
            <a:endParaRPr/>
          </a:p>
          <a:p>
            <a:pPr indent="-381000" lvl="0" marL="457200" rtl="0" algn="ctr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/>
              <a:t>Flujo continuo</a:t>
            </a:r>
            <a:endParaRPr/>
          </a:p>
          <a:p>
            <a:pPr indent="-381000" lvl="0" marL="457200" rtl="0" algn="ctr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/>
              <a:t>Adaptabilidad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pic>
        <p:nvPicPr>
          <p:cNvPr id="126" name="Google Shape;126;g3de38481818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9738" y="2178250"/>
            <a:ext cx="3251026" cy="3251026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g3de38481818_0_15"/>
          <p:cNvSpPr txBox="1"/>
          <p:nvPr>
            <p:ph type="title"/>
          </p:nvPr>
        </p:nvSpPr>
        <p:spPr>
          <a:xfrm>
            <a:off x="338400" y="477917"/>
            <a:ext cx="5393700" cy="2244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518"/>
              </a:spcBef>
              <a:spcAft>
                <a:spcPts val="0"/>
              </a:spcAft>
              <a:buNone/>
            </a:pPr>
            <a:r>
              <a:rPr lang="es-ES" sz="2800"/>
              <a:t>4. Metodología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d5eef5e508_0_32"/>
          <p:cNvSpPr txBox="1"/>
          <p:nvPr>
            <p:ph type="title"/>
          </p:nvPr>
        </p:nvSpPr>
        <p:spPr>
          <a:xfrm>
            <a:off x="679400" y="1898500"/>
            <a:ext cx="10833300" cy="2397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/>
          <a:p>
            <a:pPr indent="0" lvl="0" marL="0" rtl="0" algn="l">
              <a:spcBef>
                <a:spcPts val="518"/>
              </a:spcBef>
              <a:spcAft>
                <a:spcPts val="0"/>
              </a:spcAft>
              <a:buNone/>
            </a:pP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. Tecnologías</a:t>
            </a:r>
            <a:endParaRPr sz="33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e38481818_0_2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18"/>
              </a:spcBef>
              <a:spcAft>
                <a:spcPts val="0"/>
              </a:spcAft>
              <a:buNone/>
            </a:pPr>
            <a:r>
              <a:rPr lang="es-ES" sz="2800"/>
              <a:t>5. Tecnologías (Separar de Herramientas)</a:t>
            </a:r>
            <a:endParaRPr/>
          </a:p>
        </p:txBody>
      </p:sp>
      <p:sp>
        <p:nvSpPr>
          <p:cNvPr id="138" name="Google Shape;138;g3de38481818_0_20"/>
          <p:cNvSpPr txBox="1"/>
          <p:nvPr>
            <p:ph idx="1" type="body"/>
          </p:nvPr>
        </p:nvSpPr>
        <p:spPr>
          <a:xfrm>
            <a:off x="838200" y="1690825"/>
            <a:ext cx="10515600" cy="5167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ES">
                <a:solidFill>
                  <a:schemeClr val="accent1"/>
                </a:solidFill>
              </a:rPr>
              <a:t>Frontend:</a:t>
            </a:r>
            <a:endParaRPr b="1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 HTML | CSS | Bootstrap | Angular </a:t>
            </a:r>
            <a:endParaRPr/>
          </a:p>
          <a:p>
            <a:pPr indent="0" lvl="0" marL="0" rtl="0" algn="ctr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"/>
          </a:p>
          <a:p>
            <a:pPr indent="0" lvl="0" marL="0" rtl="0" algn="ctr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ES">
                <a:solidFill>
                  <a:schemeClr val="accent1"/>
                </a:solidFill>
              </a:rPr>
              <a:t>Backend:</a:t>
            </a:r>
            <a:endParaRPr b="1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 Django | </a:t>
            </a:r>
            <a:r>
              <a:rPr lang="es-ES"/>
              <a:t>JavaScript</a:t>
            </a:r>
            <a:endParaRPr/>
          </a:p>
          <a:p>
            <a:pPr indent="0" lvl="0" marL="0" rtl="0" algn="ctr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"/>
          </a:p>
          <a:p>
            <a:pPr indent="0" lvl="0" marL="0" rtl="0" algn="ctr">
              <a:spcBef>
                <a:spcPts val="1600"/>
              </a:spcBef>
              <a:spcAft>
                <a:spcPts val="0"/>
              </a:spcAft>
              <a:buNone/>
            </a:pPr>
            <a:r>
              <a:rPr b="1" lang="es-ES">
                <a:solidFill>
                  <a:schemeClr val="accent1"/>
                </a:solidFill>
              </a:rPr>
              <a:t>Base de datos: </a:t>
            </a:r>
            <a:endParaRPr b="1"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100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Supa Base</a:t>
            </a:r>
            <a:endParaRPr/>
          </a:p>
        </p:txBody>
      </p:sp>
      <p:pic>
        <p:nvPicPr>
          <p:cNvPr id="139" name="Google Shape;139;g3de38481818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51492" y="2671175"/>
            <a:ext cx="622450" cy="67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g3de38481818_0_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61800" y="2680925"/>
            <a:ext cx="622450" cy="651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g3de38481818_0_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7468" y="2630638"/>
            <a:ext cx="622450" cy="7519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g3de38481818_0_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55517" y="2679038"/>
            <a:ext cx="622450" cy="6552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g3de38481818_0_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11575" y="4357100"/>
            <a:ext cx="472676" cy="601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g3de38481818_0_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294100" y="4322425"/>
            <a:ext cx="663470" cy="67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g3de38481818_0_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824500" y="6091450"/>
            <a:ext cx="562099" cy="638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d5eef5e508_0_36"/>
          <p:cNvSpPr txBox="1"/>
          <p:nvPr>
            <p:ph type="title"/>
          </p:nvPr>
        </p:nvSpPr>
        <p:spPr>
          <a:xfrm>
            <a:off x="679400" y="1898500"/>
            <a:ext cx="10833300" cy="2397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/>
          <a:p>
            <a:pPr indent="0" lvl="0" marL="0" rtl="0" algn="l">
              <a:spcBef>
                <a:spcPts val="518"/>
              </a:spcBef>
              <a:spcAft>
                <a:spcPts val="0"/>
              </a:spcAft>
              <a:buNone/>
            </a:pP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6</a:t>
            </a: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. Tablero Kanban</a:t>
            </a:r>
            <a:endParaRPr sz="33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e38481818_0_25"/>
          <p:cNvSpPr txBox="1"/>
          <p:nvPr>
            <p:ph type="title"/>
          </p:nvPr>
        </p:nvSpPr>
        <p:spPr>
          <a:xfrm>
            <a:off x="838200" y="165900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18"/>
              </a:spcBef>
              <a:spcAft>
                <a:spcPts val="0"/>
              </a:spcAft>
              <a:buNone/>
            </a:pPr>
            <a:r>
              <a:rPr lang="es-ES" sz="2800"/>
              <a:t>6. Tablero Kanban (Tareas)</a:t>
            </a:r>
            <a:endParaRPr/>
          </a:p>
        </p:txBody>
      </p:sp>
      <p:pic>
        <p:nvPicPr>
          <p:cNvPr id="156" name="Google Shape;156;g3de38481818_0_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525" y="1346900"/>
            <a:ext cx="2909575" cy="385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g3de38481818_0_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86108" y="1409792"/>
            <a:ext cx="2909582" cy="3840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g3de38481818_0_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95688" y="1409792"/>
            <a:ext cx="2909581" cy="38562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g3de38481818_0_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905267" y="1394125"/>
            <a:ext cx="3110233" cy="32053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g3de38481818_0_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0725" y="5303819"/>
            <a:ext cx="2941669" cy="14777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g3de38481818_0_2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462404" y="5266025"/>
            <a:ext cx="2996653" cy="15533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g3de38481818_0_2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459048" y="5262579"/>
            <a:ext cx="2976034" cy="1560184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g3de38481818_0_25"/>
          <p:cNvSpPr txBox="1"/>
          <p:nvPr/>
        </p:nvSpPr>
        <p:spPr>
          <a:xfrm>
            <a:off x="9650350" y="4980925"/>
            <a:ext cx="1916100" cy="1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🔵= Pendiente.</a:t>
            </a:r>
            <a:endParaRPr sz="17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🟡= En Proceso.</a:t>
            </a:r>
            <a:endParaRPr sz="17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🟠= En Revision.</a:t>
            </a:r>
            <a:endParaRPr sz="17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🟢= Finalizado.</a:t>
            </a:r>
            <a:endParaRPr sz="17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d5eef5e508_0_46"/>
          <p:cNvSpPr txBox="1"/>
          <p:nvPr>
            <p:ph type="title"/>
          </p:nvPr>
        </p:nvSpPr>
        <p:spPr>
          <a:xfrm>
            <a:off x="679400" y="1898500"/>
            <a:ext cx="10833300" cy="2397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/>
          <a:p>
            <a:pPr indent="0" lvl="0" marL="0" rtl="0" algn="l">
              <a:spcBef>
                <a:spcPts val="518"/>
              </a:spcBef>
              <a:spcAft>
                <a:spcPts val="0"/>
              </a:spcAft>
              <a:buNone/>
            </a:pPr>
            <a:r>
              <a:rPr lang="es-ES" sz="3300">
                <a:latin typeface="Montserrat Medium"/>
                <a:ea typeface="Montserrat Medium"/>
                <a:cs typeface="Montserrat Medium"/>
                <a:sym typeface="Montserrat Medium"/>
              </a:rPr>
              <a:t>7. Comentarios Finales</a:t>
            </a:r>
            <a:endParaRPr sz="33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de38481818_0_3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18"/>
              </a:spcBef>
              <a:spcAft>
                <a:spcPts val="0"/>
              </a:spcAft>
              <a:buNone/>
            </a:pPr>
            <a:r>
              <a:rPr lang="es-ES" sz="2800"/>
              <a:t>7. Comentario Final</a:t>
            </a:r>
            <a:endParaRPr/>
          </a:p>
        </p:txBody>
      </p:sp>
      <p:sp>
        <p:nvSpPr>
          <p:cNvPr id="174" name="Google Shape;174;g3de38481818_0_30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s-ES"/>
              <a:t>Solución tecnológica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s-ES"/>
              <a:t>Mejora de procesos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s-ES"/>
              <a:t>Comunicación efectiva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s-ES"/>
              <a:t>Beneficio para la comunidad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pic>
        <p:nvPicPr>
          <p:cNvPr id="175" name="Google Shape;175;g3de38481818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350" y="3087150"/>
            <a:ext cx="2890700" cy="2890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d5eef5e508_0_220"/>
          <p:cNvSpPr txBox="1"/>
          <p:nvPr>
            <p:ph type="title"/>
          </p:nvPr>
        </p:nvSpPr>
        <p:spPr>
          <a:xfrm>
            <a:off x="653667" y="701800"/>
            <a:ext cx="74916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6900"/>
              <a:t>Muchas</a:t>
            </a:r>
            <a:r>
              <a:rPr lang="es-ES" sz="6900"/>
              <a:t> gracias por su atención!!</a:t>
            </a:r>
            <a:endParaRPr sz="6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2026-04-06T19:14:19Z</dcterms:created>
  <dc:creator>CETECOM Concepción</dc:creator>
</cp:coreProperties>
</file>